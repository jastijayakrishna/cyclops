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c4e78e70554e41" /><Relationship Type="http://schemas.openxmlformats.org/officeDocument/2006/relationships/extended-properties" Target="/docProps/app.xml" Id="Rd9b9ee54eb654363" /><Relationship Type="http://schemas.openxmlformats.org/officeDocument/2006/relationships/officeDocument" Target="/ppt/presentation.xml" Id="R7e09b30c95a84e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440e9bb83e4c26"/>
  </p:sldMasterIdLst>
  <p:notesMasterIdLst>
    <p:notesMasterId xmlns:r="http://schemas.openxmlformats.org/officeDocument/2006/relationships" r:id="R528b63480d4241f2"/>
  </p:notesMasterIdLst>
  <p:sldIdLst>
    <p:sldId xmlns:r="http://schemas.openxmlformats.org/officeDocument/2006/relationships" id="256" r:id="R06b8f211fce14601"/>
    <p:sldId xmlns:r="http://schemas.openxmlformats.org/officeDocument/2006/relationships" id="257" r:id="Re984b1df83c4452a"/>
    <p:sldId xmlns:r="http://schemas.openxmlformats.org/officeDocument/2006/relationships" id="258" r:id="Re75f892c15fc439b"/>
    <p:sldId xmlns:r="http://schemas.openxmlformats.org/officeDocument/2006/relationships" id="259" r:id="Ra09039ea72ae4201"/>
    <p:sldId xmlns:r="http://schemas.openxmlformats.org/officeDocument/2006/relationships" id="260" r:id="R1a2fcb4abfbc4add"/>
    <p:sldId xmlns:r="http://schemas.openxmlformats.org/officeDocument/2006/relationships" id="261" r:id="Rfdee22c52e184cac"/>
    <p:sldId xmlns:r="http://schemas.openxmlformats.org/officeDocument/2006/relationships" id="262" r:id="Rf436d4f8c05e49a6"/>
    <p:sldId xmlns:r="http://schemas.openxmlformats.org/officeDocument/2006/relationships" id="263" r:id="Rba92fc68cee3409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800a57a507467d" /><Relationship Type="http://schemas.openxmlformats.org/officeDocument/2006/relationships/slideMaster" Target="/ppt/slideMasters/slideMaster1.xml" Id="Rc6440e9bb83e4c26" /><Relationship Type="http://schemas.openxmlformats.org/officeDocument/2006/relationships/notesMaster" Target="/ppt/notesMasters/notesMaster1.xml" Id="R528b63480d4241f2" /><Relationship Type="http://schemas.openxmlformats.org/officeDocument/2006/relationships/presProps" Target="/ppt/presProps.xml" Id="Rcc1b19319f504829" /><Relationship Type="http://schemas.openxmlformats.org/officeDocument/2006/relationships/tableStyles" Target="/ppt/tableStyles.xml" Id="Rde1b92ad59944fa7" /><Relationship Type="http://schemas.openxmlformats.org/officeDocument/2006/relationships/slide" Target="/ppt/slides/slide1.xml" Id="R06b8f211fce14601" /><Relationship Type="http://schemas.openxmlformats.org/officeDocument/2006/relationships/slide" Target="/ppt/slides/slide2.xml" Id="Re984b1df83c4452a" /><Relationship Type="http://schemas.openxmlformats.org/officeDocument/2006/relationships/slide" Target="/ppt/slides/slide3.xml" Id="Re75f892c15fc439b" /><Relationship Type="http://schemas.openxmlformats.org/officeDocument/2006/relationships/slide" Target="/ppt/slides/slide4.xml" Id="Ra09039ea72ae4201" /><Relationship Type="http://schemas.openxmlformats.org/officeDocument/2006/relationships/slide" Target="/ppt/slides/slide5.xml" Id="R1a2fcb4abfbc4add" /><Relationship Type="http://schemas.openxmlformats.org/officeDocument/2006/relationships/slide" Target="/ppt/slides/slide6.xml" Id="Rfdee22c52e184cac" /><Relationship Type="http://schemas.openxmlformats.org/officeDocument/2006/relationships/slide" Target="/ppt/slides/slide7.xml" Id="Rf436d4f8c05e49a6" /><Relationship Type="http://schemas.openxmlformats.org/officeDocument/2006/relationships/slide" Target="/ppt/slides/slide8.xml" Id="Rba92fc68cee340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025a1f0a9342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22e76b2172449e" /><Relationship Type="http://schemas.openxmlformats.org/officeDocument/2006/relationships/notesMaster" Target="/ppt/notesMasters/notesMaster1.xml" Id="R03219083bed141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e7feaef5de4064" /><Relationship Type="http://schemas.openxmlformats.org/officeDocument/2006/relationships/notesMaster" Target="/ppt/notesMasters/notesMaster1.xml" Id="Ra4b6db2b27a949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2f793d7aa26447d" /><Relationship Type="http://schemas.openxmlformats.org/officeDocument/2006/relationships/notesMaster" Target="/ppt/notesMasters/notesMaster1.xml" Id="R3d077379ef8c4f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b9413c10444d0e" /><Relationship Type="http://schemas.openxmlformats.org/officeDocument/2006/relationships/notesMaster" Target="/ppt/notesMasters/notesMaster1.xml" Id="R3935506747eb4f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ce92f4f2d3649af" /><Relationship Type="http://schemas.openxmlformats.org/officeDocument/2006/relationships/notesMaster" Target="/ppt/notesMasters/notesMaster1.xml" Id="R9412db6160264db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2eb14c04a994003" /><Relationship Type="http://schemas.openxmlformats.org/officeDocument/2006/relationships/notesMaster" Target="/ppt/notesMasters/notesMaster1.xml" Id="Rf30f3e10a50745c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ffb54ed5804415a" /><Relationship Type="http://schemas.openxmlformats.org/officeDocument/2006/relationships/notesMaster" Target="/ppt/notesMasters/notesMaster1.xml" Id="Rd245523adf384b8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3ec1daa3364aa4" /><Relationship Type="http://schemas.openxmlformats.org/officeDocument/2006/relationships/notesMaster" Target="/ppt/notesMasters/notesMaster1.xml" Id="Rab4a46526bdf45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downstream decision: policy comparison, not episode scoring.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proposal: docs/thesis-proposal.md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RoboReward: https://arxiv.org/abs/2601.00675</a:t>
            </a:r>
          </a:p>
          <a:p xmlns:a="http://schemas.openxmlformats.org/drawingml/2006/main">
            <a:r>
              <a:t>- Repository proposal: docs/thesis-proposal.md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84.3% value is among both-fail sessions; the chart is explanatory, not a causal comparison.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report: docs/metric-agreement-findings.md</a:t>
            </a:r>
          </a:p>
          <a:p xmlns:a="http://schemas.openxmlformats.org/drawingml/2006/main">
            <a:r>
              <a:t>- RoboArena: https://arxiv.org/abs/2506.18123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Preserve exploratory status: the strong evaluator was identified after inspecting released results.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report: docs/public-prediction-ppi-findings.md</a:t>
            </a:r>
          </a:p>
          <a:p xmlns:a="http://schemas.openxmlformats.org/drawingml/2006/main">
            <a:r>
              <a:t>- HELM RoboRewardBench: https://crfm.stanford.edu/helm/robo-reward-bench/</a:t>
            </a:r>
          </a:p>
          <a:p xmlns:a="http://schemas.openxmlformats.org/drawingml/2006/main">
            <a:r>
              <a:t>- RoboReward: https://arxiv.org/abs/2601.00675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Prediction-Powered Inference: https://arxiv.org/abs/2301.09633</a:t>
            </a:r>
          </a:p>
          <a:p xmlns:a="http://schemas.openxmlformats.org/drawingml/2006/main">
            <a:r>
              <a:t>- Prediction-Powered Ranking: https://arxiv.org/abs/2402.17826</a:t>
            </a:r>
          </a:p>
          <a:p xmlns:a="http://schemas.openxmlformats.org/drawingml/2006/main">
            <a:r>
              <a:t>- SureSim: https://arxiv.org/abs/2510.04354</a:t>
            </a:r>
          </a:p>
          <a:p xmlns:a="http://schemas.openxmlformats.org/drawingml/2006/main">
            <a:r>
              <a:t>- Regression for the Mean: https://proceedings.mlr.press/v267/eyre25a.html</a:t>
            </a:r>
          </a:p>
          <a:p xmlns:a="http://schemas.openxmlformats.org/drawingml/2006/main">
            <a:r>
              <a:t>- Multiple-PPI: https://arxiv.org/abs/2603.27414</a:t>
            </a:r>
          </a:p>
          <a:p xmlns:a="http://schemas.openxmlformats.org/drawingml/2006/main">
            <a:r>
              <a:t>- Active Multiple-Prediction-Powered Inference: https://arxiv.org/abs/2605.08429</a:t>
            </a:r>
          </a:p>
          <a:p xmlns:a="http://schemas.openxmlformats.org/drawingml/2006/main">
            <a:r>
              <a:t>- Repository baseline: src/policy-certificate.js and docs/thesis-proposal.md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cost threshold is frozen from development-only timing evidence; 0.90 is provisional until then.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proposal: docs/thesis-proposal.md</a:t>
            </a:r>
          </a:p>
          <a:p xmlns:a="http://schemas.openxmlformats.org/drawingml/2006/main">
            <a:r>
              <a:t>- PPI++: https://arxiv.org/abs/2311.01453</a:t>
            </a:r>
          </a:p>
          <a:p xmlns:a="http://schemas.openxmlformats.org/drawingml/2006/main">
            <a:r>
              <a:t>- Eval-Actions: https://arxiv.org/abs/2601.18723</a:t>
            </a:r>
          </a:p>
          <a:p xmlns:a="http://schemas.openxmlformats.org/drawingml/2006/main">
            <a:r>
              <a:t>- TrustRoboReward: https://arxiv.org/abs/2608.08491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roadmap: docs/research-roadmap.md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on the decision a supervisor can help make; invite technical criticism of the theorem target and validation frame.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proposal: docs/thesis-proposal.md</a:t>
            </a:r>
          </a:p>
          <a:p xmlns:a="http://schemas.openxmlformats.org/drawingml/2006/main">
            <a:r>
              <a:t>- Repository brief: docs/supervisor-brief.md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3444afd32842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3c865a4b9140e6" /><Relationship Type="http://schemas.openxmlformats.org/officeDocument/2006/relationships/slideLayout" Target="/ppt/slideLayouts/slideLayout1.xml" Id="R0736a916f16d4f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36a916f16d4f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ef8cbc234342c1" /><Relationship Type="http://schemas.openxmlformats.org/officeDocument/2006/relationships/notesSlide" Target="/ppt/notesSlides/notesSlide1.xml" Id="R73118d1972044f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c26919a12943ea" /><Relationship Type="http://schemas.openxmlformats.org/officeDocument/2006/relationships/notesSlide" Target="/ppt/notesSlides/notesSlide2.xml" Id="R66c2c5e6d05341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75ac818da24a4a" /><Relationship Type="http://schemas.openxmlformats.org/officeDocument/2006/relationships/notesSlide" Target="/ppt/notesSlides/notesSlide3.xml" Id="R19233c534ce346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64f7090bed4231" /><Relationship Type="http://schemas.openxmlformats.org/officeDocument/2006/relationships/notesSlide" Target="/ppt/notesSlides/notesSlide4.xml" Id="R953061320308408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003e2faca44fe0" /><Relationship Type="http://schemas.openxmlformats.org/officeDocument/2006/relationships/notesSlide" Target="/ppt/notesSlides/notesSlide5.xml" Id="Rbd2270aff1ed409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4aedddfe7e46b0" /><Relationship Type="http://schemas.openxmlformats.org/officeDocument/2006/relationships/notesSlide" Target="/ppt/notesSlides/notesSlide6.xml" Id="R760cfff10a3940d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d99217796540fa" /><Relationship Type="http://schemas.openxmlformats.org/officeDocument/2006/relationships/notesSlide" Target="/ppt/notesSlides/notesSlide7.xml" Id="Ra3e8530014734b4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be03cc4cdd4380" /><Relationship Type="http://schemas.openxmlformats.org/officeDocument/2006/relationships/notesSlide" Target="/ppt/notesSlides/notesSlide8.xml" Id="Rd7763438588d46f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-Thesis res">
            <a:extLst xmlns:a="http://schemas.openxmlformats.org/drawingml/2006/main">
              <a:ext uri="{FF2B5EF4-FFF2-40B4-BE49-F238E27FC236}">
                <a16:creationId xmlns:a16="http://schemas.microsoft.com/office/drawing/2014/main" id="{84724A1D-F809-41AF-ACAE-9A64D9C7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THESIS RESEARCH PROSPECTUS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A2199BB-323C-4CA3-A8A4-030393CE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8382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5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Decision-safe auto-evaluation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5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of robot policies</a:t>
            </a:r>
          </a:p>
        </p:txBody>
      </p:sp>
      <p:cxnSp>
        <p:nvCxnSpPr>
          <p:cNvPr id="10" name=""/>
          <p:cNvCxnSpPr/>
          <p:nvPr/>
        </p:nvCxnSpPr>
        <p:spPr>
          <a:xfrm xmlns:a="http://schemas.openxmlformats.org/drawingml/2006/main">
            <a:off x="514350" y="352425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4" name="cover-thesis">
            <a:extLst xmlns:a="http://schemas.openxmlformats.org/drawingml/2006/main">
              <a:ext uri="{FF2B5EF4-FFF2-40B4-BE49-F238E27FC236}">
                <a16:creationId xmlns:a16="http://schemas.microsoft.com/office/drawing/2014/main" id="{2E6BEE3D-846B-4810-AA5E-90F38047D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838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Use VLM judgments only when they strengthen a simultaneous policy decision—and abstain when they do not.</a:t>
            </a:r>
          </a:p>
        </p:txBody>
      </p:sp>
      <p:sp>
        <p:nvSpPr>
          <p:cNvPr id="5" name="cover-author">
            <a:extLst xmlns:a="http://schemas.openxmlformats.org/drawingml/2006/main">
              <a:ext uri="{FF2B5EF4-FFF2-40B4-BE49-F238E27FC236}">
                <a16:creationId xmlns:a16="http://schemas.microsoft.com/office/drawing/2014/main" id="{81EBF785-4FF0-4E84-BEE2-75D37A8A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Jaya Krishna J</a:t>
            </a:r>
          </a:p>
        </p:txBody>
      </p:sp>
      <p:sp>
        <p:nvSpPr>
          <p:cNvPr id="6" name="cover-status">
            <a:extLst xmlns:a="http://schemas.openxmlformats.org/drawingml/2006/main">
              <a:ext uri="{FF2B5EF4-FFF2-40B4-BE49-F238E27FC236}">
                <a16:creationId xmlns:a16="http://schemas.microsoft.com/office/drawing/2014/main" id="{EB2602A4-3AB4-4DA4-BF66-F02281C1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8172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Exploratory evidence + executable baseline  ·  theorem and validation proposed</a:t>
            </a:r>
          </a:p>
        </p:txBody>
      </p:sp>
      <p:sp>
        <p:nvSpPr>
          <p:cNvPr id="7" name="cover-mark">
            <a:extLst xmlns:a="http://schemas.openxmlformats.org/drawingml/2006/main">
              <a:ext uri="{FF2B5EF4-FFF2-40B4-BE49-F238E27FC236}">
                <a16:creationId xmlns:a16="http://schemas.microsoft.com/office/drawing/2014/main" id="{3EF6606C-4C5E-4BCC-B430-D31EE53A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62500"/>
            <a:ext cx="21526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54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REDE</a:t>
            </a:r>
          </a:p>
        </p:txBody>
      </p:sp>
    </p:spTree>
    <p:extLst>
      <p:ext uri="{BB962C8B-B14F-4D97-AF65-F5344CB8AC3E}">
        <p14:creationId xmlns:p14="http://schemas.microsoft.com/office/powerpoint/2010/main" val="8205354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-The decisi">
            <a:extLst xmlns:a="http://schemas.openxmlformats.org/drawingml/2006/main">
              <a:ext uri="{FF2B5EF4-FFF2-40B4-BE49-F238E27FC236}">
                <a16:creationId xmlns:a16="http://schemas.microsoft.com/office/drawing/2014/main" id="{374590A0-6D80-4E0D-AA91-640530830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THE DECISION GAP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5798D63C-7E0F-4CF4-A0E3-0DE794619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63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Episode accuracy is not policy-decision fidelity</a:t>
            </a:r>
          </a:p>
        </p:txBody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3B638730-AF29-45F7-A8FD-188DE1C7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episode-panel">
            <a:extLst xmlns:a="http://schemas.openxmlformats.org/drawingml/2006/main">
              <a:ext uri="{FF2B5EF4-FFF2-40B4-BE49-F238E27FC236}">
                <a16:creationId xmlns:a16="http://schemas.microsoft.com/office/drawing/2014/main" id="{DB59446A-2D40-4317-84AF-B57C6C76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514350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solidFill>
              <a:srgbClr val="F3F3F3"/>
            </a:solidFill>
            <a:prstDash val="solid"/>
          </a:ln>
        </p:spPr>
      </p:sp>
      <p:sp>
        <p:nvSpPr>
          <p:cNvPr id="5" name="decision-panel">
            <a:extLst xmlns:a="http://schemas.openxmlformats.org/drawingml/2006/main">
              <a:ext uri="{FF2B5EF4-FFF2-40B4-BE49-F238E27FC236}">
                <a16:creationId xmlns:a16="http://schemas.microsoft.com/office/drawing/2014/main" id="{F9027FAB-2DFB-4D04-9396-879E9535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600200"/>
            <a:ext cx="514350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6" name="episode-label">
            <a:extLst xmlns:a="http://schemas.openxmlformats.org/drawingml/2006/main">
              <a:ext uri="{FF2B5EF4-FFF2-40B4-BE49-F238E27FC236}">
                <a16:creationId xmlns:a16="http://schemas.microsoft.com/office/drawing/2014/main" id="{15028850-DE57-4918-A535-6E671FDC0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431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WHAT BENCHMARKS REPORT</a:t>
            </a:r>
          </a:p>
        </p:txBody>
      </p:sp>
      <p:sp>
        <p:nvSpPr>
          <p:cNvPr id="7" name="episode-metric">
            <a:extLst xmlns:a="http://schemas.openxmlformats.org/drawingml/2006/main">
              <a:ext uri="{FF2B5EF4-FFF2-40B4-BE49-F238E27FC236}">
                <a16:creationId xmlns:a16="http://schemas.microsoft.com/office/drawing/2014/main" id="{EA3072C5-1381-450B-B0F6-EE2CE99A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Episode-level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MAE or accuracy</a:t>
            </a:r>
          </a:p>
        </p:txBody>
      </p:sp>
      <p:sp>
        <p:nvSpPr>
          <p:cNvPr id="8" name="episode-detail">
            <a:extLst xmlns:a="http://schemas.openxmlformats.org/drawingml/2006/main">
              <a:ext uri="{FF2B5EF4-FFF2-40B4-BE49-F238E27FC236}">
                <a16:creationId xmlns:a16="http://schemas.microsoft.com/office/drawing/2014/main" id="{CF61EDB6-6595-459F-8B3D-5A2535DBF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4286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Useful for prediction quality, but blind to how structured errors combine across matched policies, tasks, and sites.</a:t>
            </a:r>
          </a:p>
        </p:txBody>
      </p:sp>
      <p:sp>
        <p:nvSpPr>
          <p:cNvPr id="9" name="decision-label">
            <a:extLst xmlns:a="http://schemas.openxmlformats.org/drawingml/2006/main">
              <a:ext uri="{FF2B5EF4-FFF2-40B4-BE49-F238E27FC236}">
                <a16:creationId xmlns:a16="http://schemas.microsoft.com/office/drawing/2014/main" id="{4505FCBE-8727-4F6A-9ED3-DEDDB7A5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431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WHAT RESEARCHERS DECIDE</a:t>
            </a:r>
          </a:p>
        </p:txBody>
      </p:sp>
      <p:sp>
        <p:nvSpPr>
          <p:cNvPr id="10" name="decision-metric">
            <a:extLst xmlns:a="http://schemas.openxmlformats.org/drawingml/2006/main">
              <a:ext uri="{FF2B5EF4-FFF2-40B4-BE49-F238E27FC236}">
                <a16:creationId xmlns:a16="http://schemas.microsoft.com/office/drawing/2014/main" id="{7A87C614-3928-4C40-9D1D-C39E06B0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76500"/>
            <a:ext cx="4286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3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Superior, equivalent,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or unresolved?</a:t>
            </a:r>
          </a:p>
        </p:txBody>
      </p:sp>
      <p:sp>
        <p:nvSpPr>
          <p:cNvPr id="11" name="decision-detail">
            <a:extLst xmlns:a="http://schemas.openxmlformats.org/drawingml/2006/main">
              <a:ext uri="{FF2B5EF4-FFF2-40B4-BE49-F238E27FC236}">
                <a16:creationId xmlns:a16="http://schemas.microsoft.com/office/drawing/2014/main" id="{6824710C-626D-4B26-8538-8C739A12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95750"/>
            <a:ext cx="4286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The thesis controls simultaneous uncertainty and reduces human review only after a frozen evaluator gate passes.</a:t>
            </a:r>
          </a:p>
        </p:txBody>
      </p:sp>
    </p:spTree>
    <p:extLst>
      <p:ext uri="{BB962C8B-B14F-4D97-AF65-F5344CB8AC3E}">
        <p14:creationId xmlns:p14="http://schemas.microsoft.com/office/powerpoint/2010/main" val="6014401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-Preliminar">
            <a:extLst xmlns:a="http://schemas.openxmlformats.org/drawingml/2006/main">
              <a:ext uri="{FF2B5EF4-FFF2-40B4-BE49-F238E27FC236}">
                <a16:creationId xmlns:a16="http://schemas.microsoft.com/office/drawing/2014/main" id="{74A9DA14-88AC-4DE6-8D4A-CC6DE068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PRELIMINARY EVIDENCE 1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0791BF76-1AE3-4B31-A29A-5A55DB1B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63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Success saturates; preference still discriminates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176FC90D-0CE4-4752-BFAF-FC91E785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both-fail-panel">
            <a:extLst xmlns:a="http://schemas.openxmlformats.org/drawingml/2006/main">
              <a:ext uri="{FF2B5EF4-FFF2-40B4-BE49-F238E27FC236}">
                <a16:creationId xmlns:a16="http://schemas.microsoft.com/office/drawing/2014/main" id="{A2BB420A-04B3-43A3-9404-1D8A11C1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51435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solidFill>
              <a:srgbClr val="F3F3F3"/>
            </a:solidFill>
            <a:prstDash val="solid"/>
          </a:ln>
        </p:spPr>
      </p:sp>
      <p:sp>
        <p:nvSpPr>
          <p:cNvPr id="5" name="both-fail-value">
            <a:extLst xmlns:a="http://schemas.openxmlformats.org/drawingml/2006/main">
              <a:ext uri="{FF2B5EF4-FFF2-40B4-BE49-F238E27FC236}">
                <a16:creationId xmlns:a16="http://schemas.microsoft.com/office/drawing/2014/main" id="{7161F621-9151-4F8E-94B8-6EB2AD15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4533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61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58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81.8%</a:t>
            </a:r>
          </a:p>
        </p:txBody>
      </p:sp>
      <p:sp>
        <p:nvSpPr>
          <p:cNvPr id="6" name="both-fail-label">
            <a:extLst xmlns:a="http://schemas.openxmlformats.org/drawingml/2006/main">
              <a:ext uri="{FF2B5EF4-FFF2-40B4-BE49-F238E27FC236}">
                <a16:creationId xmlns:a16="http://schemas.microsoft.com/office/drawing/2014/main" id="{19525537-E0B0-4576-8443-A15DDF16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71825"/>
            <a:ext cx="4343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of all matched sessions had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both policies fail</a:t>
            </a:r>
          </a:p>
        </p:txBody>
      </p:sp>
      <p:sp>
        <p:nvSpPr>
          <p:cNvPr id="7" name="both-fail-meaning">
            <a:extLst xmlns:a="http://schemas.openxmlformats.org/drawingml/2006/main">
              <a:ext uri="{FF2B5EF4-FFF2-40B4-BE49-F238E27FC236}">
                <a16:creationId xmlns:a16="http://schemas.microsoft.com/office/drawing/2014/main" id="{9A16FE74-478C-4126-AFC1-119BE1F5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14800"/>
            <a:ext cx="4076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Binary success contributes no separation in those sessions.</a:t>
            </a:r>
          </a:p>
        </p:txBody>
      </p:sp>
      <p:sp>
        <p:nvSpPr>
          <p:cNvPr id="8" name="preference-panel">
            <a:extLst xmlns:a="http://schemas.openxmlformats.org/drawingml/2006/main">
              <a:ext uri="{FF2B5EF4-FFF2-40B4-BE49-F238E27FC236}">
                <a16:creationId xmlns:a16="http://schemas.microsoft.com/office/drawing/2014/main" id="{4AD6B672-7376-4B23-A648-4A840160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676400"/>
            <a:ext cx="51435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9" name="preference-value">
            <a:extLst xmlns:a="http://schemas.openxmlformats.org/drawingml/2006/main">
              <a:ext uri="{FF2B5EF4-FFF2-40B4-BE49-F238E27FC236}">
                <a16:creationId xmlns:a16="http://schemas.microsoft.com/office/drawing/2014/main" id="{079AFD0F-ECF4-4B7D-B71D-A7203D1E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14550"/>
            <a:ext cx="4533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61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58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84.3%</a:t>
            </a:r>
          </a:p>
        </p:txBody>
      </p:sp>
      <p:sp>
        <p:nvSpPr>
          <p:cNvPr id="10" name="preference-label">
            <a:extLst xmlns:a="http://schemas.openxmlformats.org/drawingml/2006/main">
              <a:ext uri="{FF2B5EF4-FFF2-40B4-BE49-F238E27FC236}">
                <a16:creationId xmlns:a16="http://schemas.microsoft.com/office/drawing/2014/main" id="{617AD74F-7730-4BFF-98B1-2E89F5BF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71825"/>
            <a:ext cx="4343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of the both-fail subset still had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 human preference winner</a:t>
            </a:r>
          </a:p>
        </p:txBody>
      </p:sp>
      <p:sp>
        <p:nvSpPr>
          <p:cNvPr id="11" name="preference-meaning">
            <a:extLst xmlns:a="http://schemas.openxmlformats.org/drawingml/2006/main">
              <a:ext uri="{FF2B5EF4-FFF2-40B4-BE49-F238E27FC236}">
                <a16:creationId xmlns:a16="http://schemas.microsoft.com/office/drawing/2014/main" id="{E9CEE81C-5FC6-4E14-B71C-9E2B9F9E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14800"/>
            <a:ext cx="4076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Preference recovers graded information discarded by success.</a:t>
            </a:r>
          </a:p>
        </p:txBody>
      </p:sp>
      <p:sp>
        <p:nvSpPr>
          <p:cNvPr id="12" name="metric-result-band">
            <a:extLst xmlns:a="http://schemas.openxmlformats.org/drawingml/2006/main">
              <a:ext uri="{FF2B5EF4-FFF2-40B4-BE49-F238E27FC236}">
                <a16:creationId xmlns:a16="http://schemas.microsoft.com/office/drawing/2014/main" id="{92E6FB1C-8DE4-4D95-90A2-9E1568CAE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7800"/>
            <a:ext cx="11163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metric-result">
            <a:extLst xmlns:a="http://schemas.openxmlformats.org/drawingml/2006/main">
              <a:ext uri="{FF2B5EF4-FFF2-40B4-BE49-F238E27FC236}">
                <a16:creationId xmlns:a16="http://schemas.microsoft.com/office/drawing/2014/main" id="{AE56C1B2-969E-4082-984A-BD8A7A55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05450"/>
            <a:ext cx="1059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13.0-point mean shift in P(candidate better)   ·   7 of 28 threshold decisions changed</a:t>
            </a:r>
          </a:p>
        </p:txBody>
      </p:sp>
    </p:spTree>
    <p:extLst>
      <p:ext uri="{BB962C8B-B14F-4D97-AF65-F5344CB8AC3E}">
        <p14:creationId xmlns:p14="http://schemas.microsoft.com/office/powerpoint/2010/main" val="720220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-Preliminar">
            <a:extLst xmlns:a="http://schemas.openxmlformats.org/drawingml/2006/main">
              <a:ext uri="{FF2B5EF4-FFF2-40B4-BE49-F238E27FC236}">
                <a16:creationId xmlns:a16="http://schemas.microsoft.com/office/drawing/2014/main" id="{26FA8591-F076-4AD3-9D2E-9D9FC8CB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PRELIMINARY EVIDENCE 2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7CBB072E-0D0C-479A-9069-D5136D22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63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Evaluator choice changes the conclusion</a:t>
            </a:r>
          </a:p>
        </p:txBody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432F5D1F-E136-4442-8B14-8F29D088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distortion-band">
            <a:extLst xmlns:a="http://schemas.openxmlformats.org/drawingml/2006/main">
              <a:ext uri="{FF2B5EF4-FFF2-40B4-BE49-F238E27FC236}">
                <a16:creationId xmlns:a16="http://schemas.microsoft.com/office/drawing/2014/main" id="{17A06EF7-2B91-464C-BB67-F540DE29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111633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5" name="distortion-big">
            <a:extLst xmlns:a="http://schemas.openxmlformats.org/drawingml/2006/main">
              <a:ext uri="{FF2B5EF4-FFF2-40B4-BE49-F238E27FC236}">
                <a16:creationId xmlns:a16="http://schemas.microsoft.com/office/drawing/2014/main" id="{11B3CD8C-76ED-40D2-B460-45525C01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24050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24 / 24</a:t>
            </a:r>
          </a:p>
        </p:txBody>
      </p:sp>
      <p:sp>
        <p:nvSpPr>
          <p:cNvPr id="6" name="distortion-caption">
            <a:extLst xmlns:a="http://schemas.openxmlformats.org/drawingml/2006/main">
              <a:ext uri="{FF2B5EF4-FFF2-40B4-BE49-F238E27FC236}">
                <a16:creationId xmlns:a16="http://schemas.microsoft.com/office/drawing/2014/main" id="{2BB67A60-85BD-4366-89C4-715EBEBB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383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complete model runs changed at least one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descriptive 95% policy decision</a:t>
            </a:r>
          </a:p>
        </p:txBody>
      </p:sp>
      <p:sp>
        <p:nvSpPr>
          <p:cNvPr id="7" name="distortion-limit">
            <a:extLst xmlns:a="http://schemas.openxmlformats.org/drawingml/2006/main">
              <a:ext uri="{FF2B5EF4-FFF2-40B4-BE49-F238E27FC236}">
                <a16:creationId xmlns:a16="http://schemas.microsoft.com/office/drawing/2014/main" id="{D1B06E53-277B-4F09-B58C-0849440D0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38450"/>
            <a:ext cx="657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Descriptive across 20 pairs per model; not a family-wise controlled hypothesis test.</a:t>
            </a:r>
          </a:p>
        </p:txBody>
      </p:sp>
      <p:sp>
        <p:nvSpPr>
          <p:cNvPr id="8" name="helpful-panel">
            <a:extLst xmlns:a="http://schemas.openxmlformats.org/drawingml/2006/main">
              <a:ext uri="{FF2B5EF4-FFF2-40B4-BE49-F238E27FC236}">
                <a16:creationId xmlns:a16="http://schemas.microsoft.com/office/drawing/2014/main" id="{F7C59E71-277E-4449-9E7A-98405876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5143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solidFill>
              <a:srgbClr val="F3F3F3"/>
            </a:solidFill>
            <a:prstDash val="solid"/>
          </a:ln>
        </p:spPr>
      </p:sp>
      <p:sp>
        <p:nvSpPr>
          <p:cNvPr id="9" name="helpful-stat">
            <a:extLst xmlns:a="http://schemas.openxmlformats.org/drawingml/2006/main">
              <a:ext uri="{FF2B5EF4-FFF2-40B4-BE49-F238E27FC236}">
                <a16:creationId xmlns:a16="http://schemas.microsoft.com/office/drawing/2014/main" id="{E470C7AF-B451-439C-BE33-15AA8963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29075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12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050" b="1">
                <a:solidFill>
                  <a:srgbClr val="1B7F5A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B7F5A"/>
                </a:solidFill>
                <a:latin typeface="Arial"/>
                <a:ea typeface="Arial"/>
                <a:cs typeface="Arial"/>
              </a:rPr>
              <a:t>5 / 25</a:t>
            </a:r>
          </a:p>
        </p:txBody>
      </p:sp>
      <p:sp>
        <p:nvSpPr>
          <p:cNvPr id="10" name="helpful-copy">
            <a:extLst xmlns:a="http://schemas.openxmlformats.org/drawingml/2006/main">
              <a:ext uri="{FF2B5EF4-FFF2-40B4-BE49-F238E27FC236}">
                <a16:creationId xmlns:a16="http://schemas.microsoft.com/office/drawing/2014/main" id="{CE7625D1-C929-4C00-A451-4B8790A89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14875"/>
            <a:ext cx="438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runs had a median fixed-PPI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variance ratio below 1</a:t>
            </a:r>
          </a:p>
        </p:txBody>
      </p:sp>
      <p:sp>
        <p:nvSpPr>
          <p:cNvPr id="11" name="contrast-panel">
            <a:extLst xmlns:a="http://schemas.openxmlformats.org/drawingml/2006/main">
              <a:ext uri="{FF2B5EF4-FFF2-40B4-BE49-F238E27FC236}">
                <a16:creationId xmlns:a16="http://schemas.microsoft.com/office/drawing/2014/main" id="{B182BA42-8797-4B38-BA8A-4C10698A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14750"/>
            <a:ext cx="5143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solidFill>
              <a:srgbClr val="F3F3F3"/>
            </a:solidFill>
            <a:prstDash val="solid"/>
          </a:ln>
        </p:spPr>
      </p:sp>
      <p:sp>
        <p:nvSpPr>
          <p:cNvPr id="12" name="contrast-stat">
            <a:extLst xmlns:a="http://schemas.openxmlformats.org/drawingml/2006/main">
              <a:ext uri="{FF2B5EF4-FFF2-40B4-BE49-F238E27FC236}">
                <a16:creationId xmlns:a16="http://schemas.microsoft.com/office/drawing/2014/main" id="{46FC0AE8-88DD-436D-8ABD-DE847969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29075"/>
            <a:ext cx="438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−15%  /  +25%</a:t>
            </a:r>
          </a:p>
        </p:txBody>
      </p:sp>
      <p:sp>
        <p:nvSpPr>
          <p:cNvPr id="13" name="contrast-copy">
            <a:extLst xmlns:a="http://schemas.openxmlformats.org/drawingml/2006/main">
              <a:ext uri="{FF2B5EF4-FFF2-40B4-BE49-F238E27FC236}">
                <a16:creationId xmlns:a16="http://schemas.microsoft.com/office/drawing/2014/main" id="{717681B1-53BE-45FA-A5CE-F3C2BEE4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714875"/>
            <a:ext cx="438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approximate interval-width change: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strong post-hoc proxy vs. weak proxy</a:t>
            </a:r>
          </a:p>
        </p:txBody>
      </p:sp>
    </p:spTree>
    <p:extLst>
      <p:ext uri="{BB962C8B-B14F-4D97-AF65-F5344CB8AC3E}">
        <p14:creationId xmlns:p14="http://schemas.microsoft.com/office/powerpoint/2010/main" val="18121860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-Method">
            <a:extLst xmlns:a="http://schemas.openxmlformats.org/drawingml/2006/main">
              <a:ext uri="{FF2B5EF4-FFF2-40B4-BE49-F238E27FC236}">
                <a16:creationId xmlns:a16="http://schemas.microsoft.com/office/drawing/2014/main" id="{765EC282-2B11-458A-9306-2ADFDC96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METHOD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F0620967-A9B0-4F5B-84B6-F0460753D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63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14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runnable certificate is the baseline—not the doctoral result</a:t>
            </a:r>
          </a:p>
        </p:txBody>
      </p: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5A47EDAE-A688-4270-8F71-0D5C95158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1600200" y="3143250"/>
            <a:ext cx="885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5" name="method-node-1">
            <a:extLst xmlns:a="http://schemas.openxmlformats.org/drawingml/2006/main">
              <a:ext uri="{FF2B5EF4-FFF2-40B4-BE49-F238E27FC236}">
                <a16:creationId xmlns:a16="http://schemas.microsoft.com/office/drawing/2014/main" id="{9E50D4D0-1879-4F71-975A-7C6EB73F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9146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method-num-1">
            <a:extLst xmlns:a="http://schemas.openxmlformats.org/drawingml/2006/main">
              <a:ext uri="{FF2B5EF4-FFF2-40B4-BE49-F238E27FC236}">
                <a16:creationId xmlns:a16="http://schemas.microsoft.com/office/drawing/2014/main" id="{4334FF17-DFA6-4D73-A445-28B77B4E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method-title-1">
            <a:extLst xmlns:a="http://schemas.openxmlformats.org/drawingml/2006/main">
              <a:ext uri="{FF2B5EF4-FFF2-40B4-BE49-F238E27FC236}">
                <a16:creationId xmlns:a16="http://schemas.microsoft.com/office/drawing/2014/main" id="{E37732CD-6E54-4E8B-8F2F-06455575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004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Run</a:t>
            </a:r>
          </a:p>
        </p:txBody>
      </p:sp>
      <p:sp>
        <p:nvSpPr>
          <p:cNvPr id="8" name="method-body-1">
            <a:extLst xmlns:a="http://schemas.openxmlformats.org/drawingml/2006/main">
              <a:ext uri="{FF2B5EF4-FFF2-40B4-BE49-F238E27FC236}">
                <a16:creationId xmlns:a16="http://schemas.microsoft.com/office/drawing/2014/main" id="{B0339FFD-8B7F-4F38-8F12-1CC6198D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29100"/>
            <a:ext cx="2857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Split audit/inference labels; use Bonferroni and fixed PPI or the identical human-only branch.</a:t>
            </a:r>
          </a:p>
        </p:txBody>
      </p:sp>
      <p:sp>
        <p:nvSpPr>
          <p:cNvPr id="9" name="method-node-2">
            <a:extLst xmlns:a="http://schemas.openxmlformats.org/drawingml/2006/main">
              <a:ext uri="{FF2B5EF4-FFF2-40B4-BE49-F238E27FC236}">
                <a16:creationId xmlns:a16="http://schemas.microsoft.com/office/drawing/2014/main" id="{4E49AD29-5BF8-417D-9202-BFD57FDE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9146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method-num-2">
            <a:extLst xmlns:a="http://schemas.openxmlformats.org/drawingml/2006/main">
              <a:ext uri="{FF2B5EF4-FFF2-40B4-BE49-F238E27FC236}">
                <a16:creationId xmlns:a16="http://schemas.microsoft.com/office/drawing/2014/main" id="{80FAAE07-530D-499D-A2A1-B835DA84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2405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method-title-2">
            <a:extLst xmlns:a="http://schemas.openxmlformats.org/drawingml/2006/main">
              <a:ext uri="{FF2B5EF4-FFF2-40B4-BE49-F238E27FC236}">
                <a16:creationId xmlns:a16="http://schemas.microsoft.com/office/drawing/2014/main" id="{3056AE40-F066-47A8-A921-1124DD30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004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Prove</a:t>
            </a:r>
          </a:p>
        </p:txBody>
      </p:sp>
      <p:sp>
        <p:nvSpPr>
          <p:cNvPr id="12" name="method-body-2">
            <a:extLst xmlns:a="http://schemas.openxmlformats.org/drawingml/2006/main">
              <a:ext uri="{FF2B5EF4-FFF2-40B4-BE49-F238E27FC236}">
                <a16:creationId xmlns:a16="http://schemas.microsoft.com/office/drawing/2014/main" id="{B79C58A3-4254-4F5F-9413-2B08E86D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229100"/>
            <a:ext cx="2857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Cross-fit proxy selection on a clustered policy graph while controlling simultaneous declarations.</a:t>
            </a:r>
          </a:p>
        </p:txBody>
      </p:sp>
      <p:sp>
        <p:nvSpPr>
          <p:cNvPr id="13" name="method-node-3">
            <a:extLst xmlns:a="http://schemas.openxmlformats.org/drawingml/2006/main">
              <a:ext uri="{FF2B5EF4-FFF2-40B4-BE49-F238E27FC236}">
                <a16:creationId xmlns:a16="http://schemas.microsoft.com/office/drawing/2014/main" id="{F537E7BA-CC4C-417E-8B7E-C90AA609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9146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4" name="method-num-3">
            <a:extLst xmlns:a="http://schemas.openxmlformats.org/drawingml/2006/main">
              <a:ext uri="{FF2B5EF4-FFF2-40B4-BE49-F238E27FC236}">
                <a16:creationId xmlns:a16="http://schemas.microsoft.com/office/drawing/2014/main" id="{7F249CB6-E477-4F31-9B39-7579ADC1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2405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method-title-3">
            <a:extLst xmlns:a="http://schemas.openxmlformats.org/drawingml/2006/main">
              <a:ext uri="{FF2B5EF4-FFF2-40B4-BE49-F238E27FC236}">
                <a16:creationId xmlns:a16="http://schemas.microsoft.com/office/drawing/2014/main" id="{8613C0C1-6623-43E6-84B2-9D55C7F7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004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16" name="method-body-3">
            <a:extLst xmlns:a="http://schemas.openxmlformats.org/drawingml/2006/main">
              <a:ext uri="{FF2B5EF4-FFF2-40B4-BE49-F238E27FC236}">
                <a16:creationId xmlns:a16="http://schemas.microsoft.com/office/drawing/2014/main" id="{FDCAAC89-6B06-483A-8EE9-3B505CF6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29100"/>
            <a:ext cx="2857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Use multi-rater and shifted frames; publish abstention when the proxy cannot save review.</a:t>
            </a:r>
          </a:p>
        </p:txBody>
      </p:sp>
      <p:sp>
        <p:nvSpPr>
          <p:cNvPr id="17" name="method-invariant">
            <a:extLst xmlns:a="http://schemas.openxmlformats.org/drawingml/2006/main">
              <a:ext uri="{FF2B5EF4-FFF2-40B4-BE49-F238E27FC236}">
                <a16:creationId xmlns:a16="http://schemas.microsoft.com/office/drawing/2014/main" id="{EC2D7DFB-F610-4EED-9F7D-33B76BB5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848350"/>
            <a:ext cx="9829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Verified now: fail-closed branch logic. Unproved: graph-aware coverage and no-harm.</a:t>
            </a:r>
          </a:p>
        </p:txBody>
      </p:sp>
    </p:spTree>
    <p:extLst>
      <p:ext uri="{BB962C8B-B14F-4D97-AF65-F5344CB8AC3E}">
        <p14:creationId xmlns:p14="http://schemas.microsoft.com/office/powerpoint/2010/main" val="1501306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Confirmati">
            <a:extLst xmlns:a="http://schemas.openxmlformats.org/drawingml/2006/main">
              <a:ext uri="{FF2B5EF4-FFF2-40B4-BE49-F238E27FC236}">
                <a16:creationId xmlns:a16="http://schemas.microsoft.com/office/drawing/2014/main" id="{602A1DD4-B8CC-4CD3-AFD1-91C9FE39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CONFIRMATION CONTRACT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2D9B520A-3869-4FC1-8E20-75C2441F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63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Coverage, cost, and declaration gates all matter</a:t>
            </a:r>
          </a:p>
        </p:txBody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1EC10BDC-609B-4DA3-83D3-8979006B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freeze-panel">
            <a:extLst xmlns:a="http://schemas.openxmlformats.org/drawingml/2006/main">
              <a:ext uri="{FF2B5EF4-FFF2-40B4-BE49-F238E27FC236}">
                <a16:creationId xmlns:a16="http://schemas.microsoft.com/office/drawing/2014/main" id="{EBD13D0A-51B0-4D97-8BFF-2773883CC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33337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solidFill>
              <a:srgbClr val="F3F3F3"/>
            </a:solidFill>
            <a:prstDash val="solid"/>
          </a:ln>
        </p:spPr>
      </p:sp>
      <p:sp>
        <p:nvSpPr>
          <p:cNvPr id="5" name="freeze-label">
            <a:extLst xmlns:a="http://schemas.openxmlformats.org/drawingml/2006/main">
              <a:ext uri="{FF2B5EF4-FFF2-40B4-BE49-F238E27FC236}">
                <a16:creationId xmlns:a16="http://schemas.microsoft.com/office/drawing/2014/main" id="{54AC8100-0999-40EF-A949-95B5199F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5262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FREEZE BEFORE LABELS</a:t>
            </a:r>
          </a:p>
        </p:txBody>
      </p:sp>
      <p:sp>
        <p:nvSpPr>
          <p:cNvPr id="6" name="freeze-list">
            <a:extLst xmlns:a="http://schemas.openxmlformats.org/drawingml/2006/main">
              <a:ext uri="{FF2B5EF4-FFF2-40B4-BE49-F238E27FC236}">
                <a16:creationId xmlns:a16="http://schemas.microsoft.com/office/drawing/2014/main" id="{55508B73-8662-4D01-9AB1-D0BEAE37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26670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Open model + hash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Policy graph + δ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Audit / inference split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Rater reference rule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Parse + missingness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Seeds + thresholds</a:t>
            </a:r>
          </a:p>
        </p:txBody>
      </p:sp>
      <p:sp>
        <p:nvSpPr>
          <p:cNvPr id="7" name="precision-panel">
            <a:extLst xmlns:a="http://schemas.openxmlformats.org/drawingml/2006/main">
              <a:ext uri="{FF2B5EF4-FFF2-40B4-BE49-F238E27FC236}">
                <a16:creationId xmlns:a16="http://schemas.microsoft.com/office/drawing/2014/main" id="{8DBA60E8-E193-4771-8274-CE0518BA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19250"/>
            <a:ext cx="3333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8" name="precision-value">
            <a:extLst xmlns:a="http://schemas.openxmlformats.org/drawingml/2006/main">
              <a:ext uri="{FF2B5EF4-FFF2-40B4-BE49-F238E27FC236}">
                <a16:creationId xmlns:a16="http://schemas.microsoft.com/office/drawing/2014/main" id="{D40A0C36-A560-4497-A0D9-FF29D695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00250"/>
            <a:ext cx="295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5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w* = δ / 2</a:t>
            </a:r>
          </a:p>
        </p:txBody>
      </p:sp>
      <p:sp>
        <p:nvSpPr>
          <p:cNvPr id="9" name="precision-caption">
            <a:extLst xmlns:a="http://schemas.openxmlformats.org/drawingml/2006/main">
              <a:ext uri="{FF2B5EF4-FFF2-40B4-BE49-F238E27FC236}">
                <a16:creationId xmlns:a16="http://schemas.microsoft.com/office/drawing/2014/main" id="{58FD4E51-E290-4454-8280-BF2B1B20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7813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human minutes to precision</a:t>
            </a:r>
          </a:p>
        </p:txBody>
      </p:sp>
      <p:sp>
        <p:nvSpPr>
          <p:cNvPr id="10" name="coverage-panel">
            <a:extLst xmlns:a="http://schemas.openxmlformats.org/drawingml/2006/main">
              <a:ext uri="{FF2B5EF4-FFF2-40B4-BE49-F238E27FC236}">
                <a16:creationId xmlns:a16="http://schemas.microsoft.com/office/drawing/2014/main" id="{7B9FFC66-55AE-4077-A358-EF006AE13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905250"/>
            <a:ext cx="3333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11" name="coverage-value">
            <a:extLst xmlns:a="http://schemas.openxmlformats.org/drawingml/2006/main">
              <a:ext uri="{FF2B5EF4-FFF2-40B4-BE49-F238E27FC236}">
                <a16:creationId xmlns:a16="http://schemas.microsoft.com/office/drawing/2014/main" id="{9AA8BC41-7669-4028-8E14-1BF56DD1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238625"/>
            <a:ext cx="276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1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4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95%</a:t>
            </a:r>
          </a:p>
        </p:txBody>
      </p:sp>
      <p:sp>
        <p:nvSpPr>
          <p:cNvPr id="12" name="coverage-caption">
            <a:extLst xmlns:a="http://schemas.openxmlformats.org/drawingml/2006/main">
              <a:ext uri="{FF2B5EF4-FFF2-40B4-BE49-F238E27FC236}">
                <a16:creationId xmlns:a16="http://schemas.microsoft.com/office/drawing/2014/main" id="{DB582480-8998-44C3-A793-2A7DB117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0673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simultaneous coverage target</a:t>
            </a:r>
          </a:p>
        </p:txBody>
      </p:sp>
      <p:sp>
        <p:nvSpPr>
          <p:cNvPr id="13" name="decision-panel">
            <a:extLst xmlns:a="http://schemas.openxmlformats.org/drawingml/2006/main">
              <a:ext uri="{FF2B5EF4-FFF2-40B4-BE49-F238E27FC236}">
                <a16:creationId xmlns:a16="http://schemas.microsoft.com/office/drawing/2014/main" id="{DAF311F2-F376-43CE-8E5C-C8A2BF69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19250"/>
            <a:ext cx="3524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decision-heading">
            <a:extLst xmlns:a="http://schemas.openxmlformats.org/drawingml/2006/main">
              <a:ext uri="{FF2B5EF4-FFF2-40B4-BE49-F238E27FC236}">
                <a16:creationId xmlns:a16="http://schemas.microsoft.com/office/drawing/2014/main" id="{AB2048F1-C2FA-4ED7-A861-E7A6A326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5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SUPPORTED OUTCOME</a:t>
            </a:r>
          </a:p>
        </p:txBody>
      </p:sp>
      <p:sp>
        <p:nvSpPr>
          <p:cNvPr id="15" name="decision-copy">
            <a:extLst xmlns:a="http://schemas.openxmlformats.org/drawingml/2006/main">
              <a:ext uri="{FF2B5EF4-FFF2-40B4-BE49-F238E27FC236}">
                <a16:creationId xmlns:a16="http://schemas.microsoft.com/office/drawing/2014/main" id="{BADD63DD-90EF-48A6-B756-81DD0DBB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5270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All gates pass</a:t>
            </a:r>
          </a:p>
        </p:txBody>
      </p:sp>
      <p:sp>
        <p:nvSpPr>
          <p:cNvPr id="16" name="decision-positive">
            <a:extLst xmlns:a="http://schemas.openxmlformats.org/drawingml/2006/main">
              <a:ext uri="{FF2B5EF4-FFF2-40B4-BE49-F238E27FC236}">
                <a16:creationId xmlns:a16="http://schemas.microsoft.com/office/drawing/2014/main" id="{291FD5E3-2476-4122-BBB6-975A876BB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124200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5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→ VLM-assisted simultaneous policy inference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8439150" y="4171950"/>
            <a:ext cx="2857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B6470"/>
            </a:solidFill>
            <a:prstDash val="solid"/>
          </a:ln>
        </p:spPr>
      </p:cxnSp>
      <p:sp>
        <p:nvSpPr>
          <p:cNvPr id="18" name="decision-fail">
            <a:extLst xmlns:a="http://schemas.openxmlformats.org/drawingml/2006/main">
              <a:ext uri="{FF2B5EF4-FFF2-40B4-BE49-F238E27FC236}">
                <a16:creationId xmlns:a16="http://schemas.microsoft.com/office/drawing/2014/main" id="{0C280610-07F3-4A8F-A54B-21588362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4958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Any gate fails</a:t>
            </a:r>
          </a:p>
        </p:txBody>
      </p:sp>
      <p:sp>
        <p:nvSpPr>
          <p:cNvPr id="19" name="decision-negative">
            <a:extLst xmlns:a="http://schemas.openxmlformats.org/drawingml/2006/main">
              <a:ext uri="{FF2B5EF4-FFF2-40B4-BE49-F238E27FC236}">
                <a16:creationId xmlns:a16="http://schemas.microsoft.com/office/drawing/2014/main" id="{4EDBA7CE-296D-487F-AFC1-16B66A27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9720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→ no reliable saving; exact human-only fallback</a:t>
            </a:r>
          </a:p>
        </p:txBody>
      </p:sp>
    </p:spTree>
    <p:extLst>
      <p:ext uri="{BB962C8B-B14F-4D97-AF65-F5344CB8AC3E}">
        <p14:creationId xmlns:p14="http://schemas.microsoft.com/office/powerpoint/2010/main" val="8763954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eyebrow-Feasible w">
            <a:extLst xmlns:a="http://schemas.openxmlformats.org/drawingml/2006/main">
              <a:ext uri="{FF2B5EF4-FFF2-40B4-BE49-F238E27FC236}">
                <a16:creationId xmlns:a16="http://schemas.microsoft.com/office/drawing/2014/main" id="{CE975337-0B9C-49C7-9D21-4C3BFCB5E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FEASIBLE WORK PLAN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829ADAD4-77E4-4DC0-B521-8AF5B615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63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 twelve-month path with explicit stopping rules</a:t>
            </a:r>
          </a:p>
        </p:txBody>
      </p:sp>
      <p:sp>
        <p:nvSpPr>
          <p:cNvPr id="3" name="page-7">
            <a:extLst xmlns:a="http://schemas.openxmlformats.org/drawingml/2006/main">
              <a:ext uri="{FF2B5EF4-FFF2-40B4-BE49-F238E27FC236}">
                <a16:creationId xmlns:a16="http://schemas.microsoft.com/office/drawing/2014/main" id="{D3F97755-C252-41E2-A6E0-A2F27B76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990600" y="3143250"/>
            <a:ext cx="10210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5" name="timeline-node-1">
            <a:extLst xmlns:a="http://schemas.openxmlformats.org/drawingml/2006/main">
              <a:ext uri="{FF2B5EF4-FFF2-40B4-BE49-F238E27FC236}">
                <a16:creationId xmlns:a16="http://schemas.microsoft.com/office/drawing/2014/main" id="{D4D9FB38-9B57-4899-8746-0DE6E3DD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timeline-label-1">
            <a:extLst xmlns:a="http://schemas.openxmlformats.org/drawingml/2006/main">
              <a:ext uri="{FF2B5EF4-FFF2-40B4-BE49-F238E27FC236}">
                <a16:creationId xmlns:a16="http://schemas.microsoft.com/office/drawing/2014/main" id="{B93AA16C-D535-4C98-ADF1-6CEBE08C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5336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M1-2</a:t>
            </a:r>
          </a:p>
        </p:txBody>
      </p:sp>
      <p:sp>
        <p:nvSpPr>
          <p:cNvPr id="7" name="timeline-title-1">
            <a:extLst xmlns:a="http://schemas.openxmlformats.org/drawingml/2006/main">
              <a:ext uri="{FF2B5EF4-FFF2-40B4-BE49-F238E27FC236}">
                <a16:creationId xmlns:a16="http://schemas.microsoft.com/office/drawing/2014/main" id="{47388F89-CD1A-4794-8863-19F1F974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6195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Simulate</a:t>
            </a:r>
          </a:p>
        </p:txBody>
      </p:sp>
      <p:sp>
        <p:nvSpPr>
          <p:cNvPr id="8" name="timeline-body-1">
            <a:extLst xmlns:a="http://schemas.openxmlformats.org/drawingml/2006/main">
              <a:ext uri="{FF2B5EF4-FFF2-40B4-BE49-F238E27FC236}">
                <a16:creationId xmlns:a16="http://schemas.microsoft.com/office/drawing/2014/main" id="{0739CF6D-E66C-4BF7-BC76-9B62B04B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415290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Graph, margin, gates, ethics + data decision</a:t>
            </a:r>
          </a:p>
        </p:txBody>
      </p:sp>
      <p:sp>
        <p:nvSpPr>
          <p:cNvPr id="9" name="timeline-node-2">
            <a:extLst xmlns:a="http://schemas.openxmlformats.org/drawingml/2006/main">
              <a:ext uri="{FF2B5EF4-FFF2-40B4-BE49-F238E27FC236}">
                <a16:creationId xmlns:a16="http://schemas.microsoft.com/office/drawing/2014/main" id="{A7F12CD2-F699-4852-A575-B3F5E486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048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timeline-label-2">
            <a:extLst xmlns:a="http://schemas.openxmlformats.org/drawingml/2006/main">
              <a:ext uri="{FF2B5EF4-FFF2-40B4-BE49-F238E27FC236}">
                <a16:creationId xmlns:a16="http://schemas.microsoft.com/office/drawing/2014/main" id="{B90F91BD-C4FD-4517-95F4-4958B1D7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5336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M3-4</a:t>
            </a:r>
          </a:p>
        </p:txBody>
      </p:sp>
      <p:sp>
        <p:nvSpPr>
          <p:cNvPr id="11" name="timeline-title-2">
            <a:extLst xmlns:a="http://schemas.openxmlformats.org/drawingml/2006/main">
              <a:ext uri="{FF2B5EF4-FFF2-40B4-BE49-F238E27FC236}">
                <a16:creationId xmlns:a16="http://schemas.microsoft.com/office/drawing/2014/main" id="{94F625EB-B638-40F8-B338-15673B3E6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195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Rate</a:t>
            </a:r>
          </a:p>
        </p:txBody>
      </p:sp>
      <p:sp>
        <p:nvSpPr>
          <p:cNvPr id="12" name="timeline-body-2">
            <a:extLst xmlns:a="http://schemas.openxmlformats.org/drawingml/2006/main">
              <a:ext uri="{FF2B5EF4-FFF2-40B4-BE49-F238E27FC236}">
                <a16:creationId xmlns:a16="http://schemas.microsoft.com/office/drawing/2014/main" id="{010C60C1-430B-43A4-98FF-20A07C93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15290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Blinded multi-rater pilot and time budget</a:t>
            </a:r>
          </a:p>
        </p:txBody>
      </p:sp>
      <p:sp>
        <p:nvSpPr>
          <p:cNvPr id="13" name="timeline-node-3">
            <a:extLst xmlns:a="http://schemas.openxmlformats.org/drawingml/2006/main">
              <a:ext uri="{FF2B5EF4-FFF2-40B4-BE49-F238E27FC236}">
                <a16:creationId xmlns:a16="http://schemas.microsoft.com/office/drawing/2014/main" id="{E1F01A2D-2C65-42D6-8B70-4E193C58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048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4" name="timeline-label-3">
            <a:extLst xmlns:a="http://schemas.openxmlformats.org/drawingml/2006/main">
              <a:ext uri="{FF2B5EF4-FFF2-40B4-BE49-F238E27FC236}">
                <a16:creationId xmlns:a16="http://schemas.microsoft.com/office/drawing/2014/main" id="{6E68ED22-4EE0-4216-9877-E47CD64E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5336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M5-7</a:t>
            </a:r>
          </a:p>
        </p:txBody>
      </p:sp>
      <p:sp>
        <p:nvSpPr>
          <p:cNvPr id="15" name="timeline-title-3">
            <a:extLst xmlns:a="http://schemas.openxmlformats.org/drawingml/2006/main">
              <a:ext uri="{FF2B5EF4-FFF2-40B4-BE49-F238E27FC236}">
                <a16:creationId xmlns:a16="http://schemas.microsoft.com/office/drawing/2014/main" id="{33245D62-09E1-4E73-906E-355FC177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6195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Prove</a:t>
            </a:r>
          </a:p>
        </p:txBody>
      </p:sp>
      <p:sp>
        <p:nvSpPr>
          <p:cNvPr id="16" name="timeline-body-3">
            <a:extLst xmlns:a="http://schemas.openxmlformats.org/drawingml/2006/main">
              <a:ext uri="{FF2B5EF4-FFF2-40B4-BE49-F238E27FC236}">
                <a16:creationId xmlns:a16="http://schemas.microsoft.com/office/drawing/2014/main" id="{CB28FD9B-0BCF-478F-BB34-13AFA414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15290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Graph validity/no-harm + locked comparison</a:t>
            </a:r>
          </a:p>
        </p:txBody>
      </p:sp>
      <p:sp>
        <p:nvSpPr>
          <p:cNvPr id="17" name="timeline-node-4">
            <a:extLst xmlns:a="http://schemas.openxmlformats.org/drawingml/2006/main">
              <a:ext uri="{FF2B5EF4-FFF2-40B4-BE49-F238E27FC236}">
                <a16:creationId xmlns:a16="http://schemas.microsoft.com/office/drawing/2014/main" id="{F9925019-16EE-4DDB-AE80-F4E3B319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48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8" name="timeline-label-4">
            <a:extLst xmlns:a="http://schemas.openxmlformats.org/drawingml/2006/main">
              <a:ext uri="{FF2B5EF4-FFF2-40B4-BE49-F238E27FC236}">
                <a16:creationId xmlns:a16="http://schemas.microsoft.com/office/drawing/2014/main" id="{40352020-F7BC-40AD-B718-E55ED8A6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5336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M8-9</a:t>
            </a:r>
          </a:p>
        </p:txBody>
      </p:sp>
      <p:sp>
        <p:nvSpPr>
          <p:cNvPr id="19" name="timeline-title-4">
            <a:extLst xmlns:a="http://schemas.openxmlformats.org/drawingml/2006/main">
              <a:ext uri="{FF2B5EF4-FFF2-40B4-BE49-F238E27FC236}">
                <a16:creationId xmlns:a16="http://schemas.microsoft.com/office/drawing/2014/main" id="{946D7C3F-5A63-45CE-9028-E45CF772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6195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Shift-test</a:t>
            </a:r>
          </a:p>
        </p:txBody>
      </p:sp>
      <p:sp>
        <p:nvSpPr>
          <p:cNvPr id="20" name="timeline-body-4">
            <a:extLst xmlns:a="http://schemas.openxmlformats.org/drawingml/2006/main">
              <a:ext uri="{FF2B5EF4-FFF2-40B4-BE49-F238E27FC236}">
                <a16:creationId xmlns:a16="http://schemas.microsoft.com/office/drawing/2014/main" id="{054CE992-660D-46C1-AA81-748F57CF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15290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Held-out tasks/sites or prospective lab frame</a:t>
            </a:r>
          </a:p>
        </p:txBody>
      </p:sp>
      <p:sp>
        <p:nvSpPr>
          <p:cNvPr id="21" name="timeline-node-5">
            <a:extLst xmlns:a="http://schemas.openxmlformats.org/drawingml/2006/main">
              <a:ext uri="{FF2B5EF4-FFF2-40B4-BE49-F238E27FC236}">
                <a16:creationId xmlns:a16="http://schemas.microsoft.com/office/drawing/2014/main" id="{1D10BFE2-EFA7-4D7A-99CB-30D728BEC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048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2" name="timeline-label-5">
            <a:extLst xmlns:a="http://schemas.openxmlformats.org/drawingml/2006/main">
              <a:ext uri="{FF2B5EF4-FFF2-40B4-BE49-F238E27FC236}">
                <a16:creationId xmlns:a16="http://schemas.microsoft.com/office/drawing/2014/main" id="{263A4F38-DF22-4861-8DB5-5CDF17ADB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5336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M10-12</a:t>
            </a:r>
          </a:p>
        </p:txBody>
      </p:sp>
      <p:sp>
        <p:nvSpPr>
          <p:cNvPr id="23" name="timeline-title-5">
            <a:extLst xmlns:a="http://schemas.openxmlformats.org/drawingml/2006/main">
              <a:ext uri="{FF2B5EF4-FFF2-40B4-BE49-F238E27FC236}">
                <a16:creationId xmlns:a16="http://schemas.microsoft.com/office/drawing/2014/main" id="{1919E26A-F621-4524-8025-3A97F37D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6195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Release</a:t>
            </a:r>
          </a:p>
        </p:txBody>
      </p:sp>
      <p:sp>
        <p:nvSpPr>
          <p:cNvPr id="24" name="timeline-body-5">
            <a:extLst xmlns:a="http://schemas.openxmlformats.org/drawingml/2006/main">
              <a:ext uri="{FF2B5EF4-FFF2-40B4-BE49-F238E27FC236}">
                <a16:creationId xmlns:a16="http://schemas.microsoft.com/office/drawing/2014/main" id="{CB070231-6D73-4109-BBE0-D842B306B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15290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Thesis, protocol archive, claim audit</a:t>
            </a:r>
          </a:p>
        </p:txBody>
      </p:sp>
      <p:sp>
        <p:nvSpPr>
          <p:cNvPr id="25" name="stop-band">
            <a:extLst xmlns:a="http://schemas.openxmlformats.org/drawingml/2006/main">
              <a:ext uri="{FF2B5EF4-FFF2-40B4-BE49-F238E27FC236}">
                <a16:creationId xmlns:a16="http://schemas.microsoft.com/office/drawing/2014/main" id="{809B96CC-0896-4E10-AC94-EC46FA97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72125"/>
            <a:ext cx="10210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solidFill>
              <a:srgbClr val="F3F3F3"/>
            </a:solidFill>
            <a:prstDash val="solid"/>
          </a:ln>
        </p:spPr>
      </p:sp>
      <p:sp>
        <p:nvSpPr>
          <p:cNvPr id="26" name="stop-copy">
            <a:extLst xmlns:a="http://schemas.openxmlformats.org/drawingml/2006/main">
              <a:ext uri="{FF2B5EF4-FFF2-40B4-BE49-F238E27FC236}">
                <a16:creationId xmlns:a16="http://schemas.microsoft.com/office/drawing/2014/main" id="{EEDD06ED-F3FB-4DB3-9A8B-547123EE7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743575"/>
            <a:ext cx="963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Minimum track: public episodes + new blinded ratings. External claim requires a prospective lab frame.</a:t>
            </a:r>
          </a:p>
        </p:txBody>
      </p:sp>
    </p:spTree>
    <p:extLst>
      <p:ext uri="{BB962C8B-B14F-4D97-AF65-F5344CB8AC3E}">
        <p14:creationId xmlns:p14="http://schemas.microsoft.com/office/powerpoint/2010/main" val="10116776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-Proposed c">
            <a:extLst xmlns:a="http://schemas.openxmlformats.org/drawingml/2006/main">
              <a:ext uri="{FF2B5EF4-FFF2-40B4-BE49-F238E27FC236}">
                <a16:creationId xmlns:a16="http://schemas.microsoft.com/office/drawing/2014/main" id="{C5B76338-3D26-4F9A-B85B-AA8BAB96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PROPOSED COLLABORATION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185B52A7-FD07-460A-9404-88C24082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95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Ready with a baseline—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4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not a finished theorem</a:t>
            </a:r>
          </a:p>
        </p:txBody>
      </p:sp>
      <p:sp>
        <p:nvSpPr>
          <p:cNvPr id="3" name="close-summary">
            <a:extLst xmlns:a="http://schemas.openxmlformats.org/drawingml/2006/main">
              <a:ext uri="{FF2B5EF4-FFF2-40B4-BE49-F238E27FC236}">
                <a16:creationId xmlns:a16="http://schemas.microsoft.com/office/drawing/2014/main" id="{23745BE7-A065-48E6-8014-BA61A1D35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85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5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The completed audit identifies the failure. The executable certificate proves feasibility. The research question is whether cross-fitted proxy use can earn graph-wide validity and no-harm.</a:t>
            </a:r>
          </a:p>
        </p:txBody>
      </p:sp>
      <p:sp>
        <p:nvSpPr>
          <p:cNvPr id="4" name="close-ask-panel">
            <a:extLst xmlns:a="http://schemas.openxmlformats.org/drawingml/2006/main">
              <a:ext uri="{FF2B5EF4-FFF2-40B4-BE49-F238E27FC236}">
                <a16:creationId xmlns:a16="http://schemas.microsoft.com/office/drawing/2014/main" id="{FBBB97FE-5F12-476A-89AF-08827D76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123950"/>
            <a:ext cx="36576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5" name="close-ask-label">
            <a:extLst xmlns:a="http://schemas.openxmlformats.org/drawingml/2006/main">
              <a:ext uri="{FF2B5EF4-FFF2-40B4-BE49-F238E27FC236}">
                <a16:creationId xmlns:a16="http://schemas.microsoft.com/office/drawing/2014/main" id="{3F97752E-DCDD-4F92-84AF-00A9C913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504950"/>
            <a:ext cx="300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SUPERVISION DECISION</a:t>
            </a:r>
          </a:p>
        </p:txBody>
      </p:sp>
      <p:sp>
        <p:nvSpPr>
          <p:cNvPr id="6" name="close-ask">
            <a:extLst xmlns:a="http://schemas.openxmlformats.org/drawingml/2006/main">
              <a:ext uri="{FF2B5EF4-FFF2-40B4-BE49-F238E27FC236}">
                <a16:creationId xmlns:a16="http://schemas.microsoft.com/office/drawing/2014/main" id="{6054BA4B-4B00-4042-95F0-A5F23840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43125"/>
            <a:ext cx="30099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Which thesis core is strongest for this lab?</a:t>
            </a:r>
          </a:p>
        </p:txBody>
      </p:sp>
      <p:sp>
        <p:nvSpPr>
          <p:cNvPr id="7" name="close-options">
            <a:extLst xmlns:a="http://schemas.openxmlformats.org/drawingml/2006/main">
              <a:ext uri="{FF2B5EF4-FFF2-40B4-BE49-F238E27FC236}">
                <a16:creationId xmlns:a16="http://schemas.microsoft.com/office/drawing/2014/main" id="{70DBA601-3342-40B6-92FD-C76D9E26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10000"/>
            <a:ext cx="30099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Graph-aware validity/no-harm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Prospective policy evaluation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Joint statistics + robotics</a:t>
            </a:r>
          </a:p>
        </p:txBody>
      </p:sp>
      <p:sp>
        <p:nvSpPr>
          <p:cNvPr id="8" name="close-author">
            <a:extLst xmlns:a="http://schemas.openxmlformats.org/drawingml/2006/main">
              <a:ext uri="{FF2B5EF4-FFF2-40B4-BE49-F238E27FC236}">
                <a16:creationId xmlns:a16="http://schemas.microsoft.com/office/drawing/2014/main" id="{15DD62AF-E2C6-4633-B7C7-5135FCE9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817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Jaya Krishna J  ·  Robot Evaluation Decision Engine</a:t>
            </a:r>
          </a:p>
        </p:txBody>
      </p:sp>
    </p:spTree>
    <p:extLst>
      <p:ext uri="{BB962C8B-B14F-4D97-AF65-F5344CB8AC3E}">
        <p14:creationId xmlns:p14="http://schemas.microsoft.com/office/powerpoint/2010/main" val="14272703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2026-08-24T06:29:53.5160000Z</dcterms:created>
  <dcterms:modified xsi:type="dcterms:W3CDTF">2026-08-24T06:29:53.5160000Z</dcterms:modified>
</coreProperties>
</file>