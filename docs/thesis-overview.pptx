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e0b1ac32654e4c" /><Relationship Type="http://schemas.openxmlformats.org/officeDocument/2006/relationships/extended-properties" Target="/docProps/app.xml" Id="R3b0e3088d8964c15" /><Relationship Type="http://schemas.openxmlformats.org/officeDocument/2006/relationships/officeDocument" Target="/ppt/presentation.xml" Id="Rcba85929f937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b5fc14b903454a"/>
  </p:sldMasterIdLst>
  <p:notesMasterIdLst>
    <p:notesMasterId xmlns:r="http://schemas.openxmlformats.org/officeDocument/2006/relationships" r:id="Re3dd8f04440f4188"/>
  </p:notesMasterIdLst>
  <p:sldIdLst>
    <p:sldId xmlns:r="http://schemas.openxmlformats.org/officeDocument/2006/relationships" id="256" r:id="R9d6d91ba8b394913"/>
    <p:sldId xmlns:r="http://schemas.openxmlformats.org/officeDocument/2006/relationships" id="257" r:id="R89d33b90e7e1432e"/>
    <p:sldId xmlns:r="http://schemas.openxmlformats.org/officeDocument/2006/relationships" id="258" r:id="R4362bf6ced9c4c98"/>
    <p:sldId xmlns:r="http://schemas.openxmlformats.org/officeDocument/2006/relationships" id="259" r:id="R9da28bc4d0ac4c97"/>
    <p:sldId xmlns:r="http://schemas.openxmlformats.org/officeDocument/2006/relationships" id="260" r:id="R3b09196676224776"/>
    <p:sldId xmlns:r="http://schemas.openxmlformats.org/officeDocument/2006/relationships" id="261" r:id="Rb10215f87bef4d30"/>
    <p:sldId xmlns:r="http://schemas.openxmlformats.org/officeDocument/2006/relationships" id="262" r:id="R7feac88c19b84236"/>
    <p:sldId xmlns:r="http://schemas.openxmlformats.org/officeDocument/2006/relationships" id="263" r:id="Raa8b229f9eda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2dde32e4024452" /><Relationship Type="http://schemas.openxmlformats.org/officeDocument/2006/relationships/slideMaster" Target="/ppt/slideMasters/slideMaster1.xml" Id="R0db5fc14b903454a" /><Relationship Type="http://schemas.openxmlformats.org/officeDocument/2006/relationships/notesMaster" Target="/ppt/notesMasters/notesMaster1.xml" Id="Re3dd8f04440f4188" /><Relationship Type="http://schemas.openxmlformats.org/officeDocument/2006/relationships/presProps" Target="/ppt/presProps.xml" Id="R5482638fad744eb0" /><Relationship Type="http://schemas.openxmlformats.org/officeDocument/2006/relationships/tableStyles" Target="/ppt/tableStyles.xml" Id="R0fb43270947b4ca8" /><Relationship Type="http://schemas.openxmlformats.org/officeDocument/2006/relationships/slide" Target="/ppt/slides/slide1.xml" Id="R9d6d91ba8b394913" /><Relationship Type="http://schemas.openxmlformats.org/officeDocument/2006/relationships/slide" Target="/ppt/slides/slide2.xml" Id="R89d33b90e7e1432e" /><Relationship Type="http://schemas.openxmlformats.org/officeDocument/2006/relationships/slide" Target="/ppt/slides/slide3.xml" Id="R4362bf6ced9c4c98" /><Relationship Type="http://schemas.openxmlformats.org/officeDocument/2006/relationships/slide" Target="/ppt/slides/slide4.xml" Id="R9da28bc4d0ac4c97" /><Relationship Type="http://schemas.openxmlformats.org/officeDocument/2006/relationships/slide" Target="/ppt/slides/slide5.xml" Id="R3b09196676224776" /><Relationship Type="http://schemas.openxmlformats.org/officeDocument/2006/relationships/slide" Target="/ppt/slides/slide6.xml" Id="Rb10215f87bef4d30" /><Relationship Type="http://schemas.openxmlformats.org/officeDocument/2006/relationships/slide" Target="/ppt/slides/slide7.xml" Id="R7feac88c19b84236" /><Relationship Type="http://schemas.openxmlformats.org/officeDocument/2006/relationships/slide" Target="/ppt/slides/slide8.xml" Id="Raa8b229f9eda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541bd4fcb44c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ec05197cb149bf" /><Relationship Type="http://schemas.openxmlformats.org/officeDocument/2006/relationships/notesMaster" Target="/ppt/notesMasters/notesMaster1.xml" Id="R9d443efc47f74c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ca1fe085304482" /><Relationship Type="http://schemas.openxmlformats.org/officeDocument/2006/relationships/notesMaster" Target="/ppt/notesMasters/notesMaster1.xml" Id="R4f8ef46e65bd4c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11280ddf114e3e" /><Relationship Type="http://schemas.openxmlformats.org/officeDocument/2006/relationships/notesMaster" Target="/ppt/notesMasters/notesMaster1.xml" Id="R1e147a924d0742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9ca0581104876" /><Relationship Type="http://schemas.openxmlformats.org/officeDocument/2006/relationships/notesMaster" Target="/ppt/notesMasters/notesMaster1.xml" Id="Rc7e0a9c5de2641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947e38543a4687" /><Relationship Type="http://schemas.openxmlformats.org/officeDocument/2006/relationships/notesMaster" Target="/ppt/notesMasters/notesMaster1.xml" Id="Re64b7608f3874a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c859979df945da" /><Relationship Type="http://schemas.openxmlformats.org/officeDocument/2006/relationships/notesMaster" Target="/ppt/notesMasters/notesMaster1.xml" Id="R4297b9eebbc543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c94c570baa4db7" /><Relationship Type="http://schemas.openxmlformats.org/officeDocument/2006/relationships/notesMaster" Target="/ppt/notesMasters/notesMaster1.xml" Id="R2a4de2d077c748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0a30a5f1cf4c37" /><Relationship Type="http://schemas.openxmlformats.org/officeDocument/2006/relationships/notesMaster" Target="/ppt/notesMasters/notesMaster1.xml" Id="R6c6600e73aeb45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downstream decision: policy comparison, not episode scoring.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proposal: docs/thesis-proposal.md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RoboReward: https://arxiv.org/abs/2601.00675</a:t>
            </a:r>
          </a:p>
          <a:p xmlns:a="http://schemas.openxmlformats.org/drawingml/2006/main">
            <a:r>
              <a:t>- Repository proposal: docs/thesis-proposal.md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84.3% value is among both-fail sessions; the chart is explanatory, not a causal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report: docs/metric-agreement-findings.md</a:t>
            </a:r>
          </a:p>
          <a:p xmlns:a="http://schemas.openxmlformats.org/drawingml/2006/main">
            <a:r>
              <a:t>- RoboArena: https://arxiv.org/abs/2506.18123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Preserve exploratory status: the strong evaluator was identified after inspecting released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report: docs/public-prediction-ppi-findings.md</a:t>
            </a:r>
          </a:p>
          <a:p xmlns:a="http://schemas.openxmlformats.org/drawingml/2006/main">
            <a:r>
              <a:t>- HELM RoboRewardBench: https://crfm.stanford.edu/helm/robo-reward-bench/</a:t>
            </a:r>
          </a:p>
          <a:p xmlns:a="http://schemas.openxmlformats.org/drawingml/2006/main">
            <a:r>
              <a:t>- RoboReward: https://arxiv.org/abs/2601.00675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Prediction-Powered Inference: https://arxiv.org/abs/2301.09633</a:t>
            </a:r>
          </a:p>
          <a:p xmlns:a="http://schemas.openxmlformats.org/drawingml/2006/main">
            <a:r>
              <a:t>- Prediction-Powered Ranking: https://arxiv.org/abs/2402.17826</a:t>
            </a:r>
          </a:p>
          <a:p xmlns:a="http://schemas.openxmlformats.org/drawingml/2006/main">
            <a:r>
              <a:t>- SureSim: https://arxiv.org/abs/2510.04354</a:t>
            </a:r>
          </a:p>
          <a:p xmlns:a="http://schemas.openxmlformats.org/drawingml/2006/main">
            <a:r>
              <a:t>- Regression for the Mean: https://proceedings.mlr.press/v267/eyre25a.html</a:t>
            </a:r>
          </a:p>
          <a:p xmlns:a="http://schemas.openxmlformats.org/drawingml/2006/main">
            <a:r>
              <a:t>- Multiple-PPI: https://arxiv.org/abs/2603.27414</a:t>
            </a:r>
          </a:p>
          <a:p xmlns:a="http://schemas.openxmlformats.org/drawingml/2006/main">
            <a:r>
              <a:t>- Active Multiple-Prediction-Powered Inference: https://arxiv.org/abs/2605.08429</a:t>
            </a:r>
          </a:p>
          <a:p xmlns:a="http://schemas.openxmlformats.org/drawingml/2006/main">
            <a:r>
              <a:t>- Repository baseline: src/policy-certificate.js and docs/thesis-proposal.md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cost threshold is frozen from development-only timing evidence; 0.90 is provisional until then.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proposal: docs/thesis-proposal.md</a:t>
            </a:r>
          </a:p>
          <a:p xmlns:a="http://schemas.openxmlformats.org/drawingml/2006/main">
            <a:r>
              <a:t>- PPI++: https://arxiv.org/abs/2311.01453</a:t>
            </a:r>
          </a:p>
          <a:p xmlns:a="http://schemas.openxmlformats.org/drawingml/2006/main">
            <a:r>
              <a:t>- Eval-Actions: https://arxiv.org/abs/2601.18723</a:t>
            </a:r>
          </a:p>
          <a:p xmlns:a="http://schemas.openxmlformats.org/drawingml/2006/main">
            <a:r>
              <a:t>- TrustRoboReward: https://arxiv.org/abs/2608.08491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roadmap: docs/research-roadmap.md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unresolved theorem target and the empirical conditions needed to test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proposal: docs/thesis-proposal.md</a:t>
            </a:r>
          </a:p>
          <a:p xmlns:a="http://schemas.openxmlformats.org/drawingml/2006/main">
            <a:r>
              <a:t>- Repository summary: docs/research-summary.md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25250b94c48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0d714ac6445bf" /><Relationship Type="http://schemas.openxmlformats.org/officeDocument/2006/relationships/slideLayout" Target="/ppt/slideLayouts/slideLayout1.xml" Id="R7e9f828f0b5940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9f828f0b5940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9a2e7170b4f1d" /><Relationship Type="http://schemas.openxmlformats.org/officeDocument/2006/relationships/notesSlide" Target="/ppt/notesSlides/notesSlide1.xml" Id="Rb0363628e0ca4c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7e9bef4844992" /><Relationship Type="http://schemas.openxmlformats.org/officeDocument/2006/relationships/notesSlide" Target="/ppt/notesSlides/notesSlide2.xml" Id="Rb9c32d4440f14d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5e4bb058d4ec1" /><Relationship Type="http://schemas.openxmlformats.org/officeDocument/2006/relationships/notesSlide" Target="/ppt/notesSlides/notesSlide3.xml" Id="R4b3fbc5a4820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2e15155bb44f6" /><Relationship Type="http://schemas.openxmlformats.org/officeDocument/2006/relationships/notesSlide" Target="/ppt/notesSlides/notesSlide4.xml" Id="R6d3caa3d29e14e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70a16baa84e43" /><Relationship Type="http://schemas.openxmlformats.org/officeDocument/2006/relationships/notesSlide" Target="/ppt/notesSlides/notesSlide5.xml" Id="R2252163867bb47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5ada0c6b74f2d" /><Relationship Type="http://schemas.openxmlformats.org/officeDocument/2006/relationships/notesSlide" Target="/ppt/notesSlides/notesSlide6.xml" Id="Rd346d9b44970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fe8d790f438b" /><Relationship Type="http://schemas.openxmlformats.org/officeDocument/2006/relationships/notesSlide" Target="/ppt/notesSlides/notesSlide7.xml" Id="R0134b7802ec641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de9112c1d4c79" /><Relationship Type="http://schemas.openxmlformats.org/officeDocument/2006/relationships/notesSlide" Target="/ppt/notesSlides/notesSlide8.xml" Id="R99911f641e824c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-Thesis res">
            <a:extLst xmlns:a="http://schemas.openxmlformats.org/drawingml/2006/main">
              <a:ext uri="{FF2B5EF4-FFF2-40B4-BE49-F238E27FC236}">
                <a16:creationId xmlns:a16="http://schemas.microsoft.com/office/drawing/2014/main" id="{49571EA2-9219-4ED5-ABFA-CF204EFB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THESIS RESEARCH PROJECT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B9EFD52-6529-45A6-8962-2C1199F1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Decision-safe auto-evaluation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robot policies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514350" y="3524250"/>
            <a:ext cx="11163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8888F2B1-4FFB-4C39-943D-8C427984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0"/>
            <a:ext cx="838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Use VLM judgments only when they strengthen a simultaneous policy decision—and abstain when they do not.</a:t>
            </a:r>
          </a:p>
        </p:txBody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8445657-A14D-49C8-A079-6AADE5F0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Jaya Krishna J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32A67526-4AC8-4CE0-AEA8-564A1F13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8172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Exploratory evidence + executable baseline  ·  theorem and validation proposed</a:t>
            </a:r>
          </a:p>
        </p:txBody>
      </p:sp>
      <p:sp>
        <p:nvSpPr>
          <p:cNvPr id="7" name="cover-mark">
            <a:extLst xmlns:a="http://schemas.openxmlformats.org/drawingml/2006/main">
              <a:ext uri="{FF2B5EF4-FFF2-40B4-BE49-F238E27FC236}">
                <a16:creationId xmlns:a16="http://schemas.microsoft.com/office/drawing/2014/main" id="{C4E86D65-2124-4CDB-AAAF-59137BF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2152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4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REDE</a:t>
            </a:r>
          </a:p>
        </p:txBody>
      </p:sp>
    </p:spTree>
    <p:extLst>
      <p:ext uri="{BB962C8B-B14F-4D97-AF65-F5344CB8AC3E}">
        <p14:creationId xmlns:p14="http://schemas.microsoft.com/office/powerpoint/2010/main" val="1748514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The decisi">
            <a:extLst xmlns:a="http://schemas.openxmlformats.org/drawingml/2006/main">
              <a:ext uri="{FF2B5EF4-FFF2-40B4-BE49-F238E27FC236}">
                <a16:creationId xmlns:a16="http://schemas.microsoft.com/office/drawing/2014/main" id="{BDB47CE0-7D8B-496F-ADD6-6B8A94B9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DECISION GAP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B246080-B100-4D2D-AE46-16776488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Episode accuracy is not policy-decision fidelity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23F0094-9C5E-4577-94EF-8CA5A747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episode-panel">
            <a:extLst xmlns:a="http://schemas.openxmlformats.org/drawingml/2006/main">
              <a:ext uri="{FF2B5EF4-FFF2-40B4-BE49-F238E27FC236}">
                <a16:creationId xmlns:a16="http://schemas.microsoft.com/office/drawing/2014/main" id="{2479BCC9-DF39-4E5E-AB02-97D0358D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1435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5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7779A670-4D3E-44EA-BF69-AB8ED310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00200"/>
            <a:ext cx="514350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episode-label">
            <a:extLst xmlns:a="http://schemas.openxmlformats.org/drawingml/2006/main">
              <a:ext uri="{FF2B5EF4-FFF2-40B4-BE49-F238E27FC236}">
                <a16:creationId xmlns:a16="http://schemas.microsoft.com/office/drawing/2014/main" id="{56B0A80D-A367-4C80-A2F2-BE5CC15E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WHAT BENCHMARKS REPORT</a:t>
            </a:r>
          </a:p>
        </p:txBody>
      </p:sp>
      <p:sp>
        <p:nvSpPr>
          <p:cNvPr id="7" name="episode-metric">
            <a:extLst xmlns:a="http://schemas.openxmlformats.org/drawingml/2006/main">
              <a:ext uri="{FF2B5EF4-FFF2-40B4-BE49-F238E27FC236}">
                <a16:creationId xmlns:a16="http://schemas.microsoft.com/office/drawing/2014/main" id="{1FC73913-91EF-47E9-AB05-4BAC9575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Episode-level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MAE or accuracy</a:t>
            </a:r>
          </a:p>
        </p:txBody>
      </p:sp>
      <p:sp>
        <p:nvSpPr>
          <p:cNvPr id="8" name="episode-detail">
            <a:extLst xmlns:a="http://schemas.openxmlformats.org/drawingml/2006/main">
              <a:ext uri="{FF2B5EF4-FFF2-40B4-BE49-F238E27FC236}">
                <a16:creationId xmlns:a16="http://schemas.microsoft.com/office/drawing/2014/main" id="{EF2F9342-AFE6-40CF-887D-00AE401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28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Useful for prediction quality, but blind to how structured errors combine across matched policies, tasks, and sites.</a:t>
            </a:r>
          </a:p>
        </p:txBody>
      </p:sp>
      <p:sp>
        <p:nvSpPr>
          <p:cNvPr id="9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F3A552C8-F07A-4F7F-B32D-0D75CCBA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431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WHAT RESEARCHERS DECIDE</a:t>
            </a:r>
          </a:p>
        </p:txBody>
      </p:sp>
      <p:sp>
        <p:nvSpPr>
          <p:cNvPr id="10" name="decision-metric">
            <a:extLst xmlns:a="http://schemas.openxmlformats.org/drawingml/2006/main">
              <a:ext uri="{FF2B5EF4-FFF2-40B4-BE49-F238E27FC236}">
                <a16:creationId xmlns:a16="http://schemas.microsoft.com/office/drawing/2014/main" id="{7ECBE6D7-75E1-4F95-BB88-D9E04741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7650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Superior, equivalent,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 unresolved?</a:t>
            </a:r>
          </a:p>
        </p:txBody>
      </p:sp>
      <p:sp>
        <p:nvSpPr>
          <p:cNvPr id="11" name="decision-detail">
            <a:extLst xmlns:a="http://schemas.openxmlformats.org/drawingml/2006/main">
              <a:ext uri="{FF2B5EF4-FFF2-40B4-BE49-F238E27FC236}">
                <a16:creationId xmlns:a16="http://schemas.microsoft.com/office/drawing/2014/main" id="{595909E5-68AC-4B5D-A9B3-64EEA14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4286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thesis controls simultaneous uncertainty and reduces human review only after a frozen evaluator gate passes.</a:t>
            </a:r>
          </a:p>
        </p:txBody>
      </p:sp>
    </p:spTree>
    <p:extLst>
      <p:ext uri="{BB962C8B-B14F-4D97-AF65-F5344CB8AC3E}">
        <p14:creationId xmlns:p14="http://schemas.microsoft.com/office/powerpoint/2010/main" val="1713497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Preliminar">
            <a:extLst xmlns:a="http://schemas.openxmlformats.org/drawingml/2006/main">
              <a:ext uri="{FF2B5EF4-FFF2-40B4-BE49-F238E27FC236}">
                <a16:creationId xmlns:a16="http://schemas.microsoft.com/office/drawing/2014/main" id="{7DB861BA-CFC2-4396-84F7-17A78A2E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PRELIMINARY EVIDENCE 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70D37EF-6CFC-4E31-88C8-5B564ADF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Success saturates; preference still discriminates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64453A13-3628-4FA5-A949-3A01C099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both-fail-panel">
            <a:extLst xmlns:a="http://schemas.openxmlformats.org/drawingml/2006/main">
              <a:ext uri="{FF2B5EF4-FFF2-40B4-BE49-F238E27FC236}">
                <a16:creationId xmlns:a16="http://schemas.microsoft.com/office/drawing/2014/main" id="{94BA3844-068A-4645-B7AB-F786697F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143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5" name="both-fail-value">
            <a:extLst xmlns:a="http://schemas.openxmlformats.org/drawingml/2006/main">
              <a:ext uri="{FF2B5EF4-FFF2-40B4-BE49-F238E27FC236}">
                <a16:creationId xmlns:a16="http://schemas.microsoft.com/office/drawing/2014/main" id="{587DF66F-4B03-40F1-8BF2-B885020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453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81.8%</a:t>
            </a:r>
          </a:p>
        </p:txBody>
      </p:sp>
      <p:sp>
        <p:nvSpPr>
          <p:cNvPr id="6" name="both-fail-label">
            <a:extLst xmlns:a="http://schemas.openxmlformats.org/drawingml/2006/main">
              <a:ext uri="{FF2B5EF4-FFF2-40B4-BE49-F238E27FC236}">
                <a16:creationId xmlns:a16="http://schemas.microsoft.com/office/drawing/2014/main" id="{E048E537-AEA5-4EB1-8099-EFC7A316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all matched sessions had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policies fail</a:t>
            </a:r>
          </a:p>
        </p:txBody>
      </p:sp>
      <p:sp>
        <p:nvSpPr>
          <p:cNvPr id="7" name="both-fail-meaning">
            <a:extLst xmlns:a="http://schemas.openxmlformats.org/drawingml/2006/main">
              <a:ext uri="{FF2B5EF4-FFF2-40B4-BE49-F238E27FC236}">
                <a16:creationId xmlns:a16="http://schemas.microsoft.com/office/drawing/2014/main" id="{0AC32C35-388C-4026-99DF-E2A1A0D8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Binary success contributes no separation in those sessions.</a:t>
            </a:r>
          </a:p>
        </p:txBody>
      </p:sp>
      <p:sp>
        <p:nvSpPr>
          <p:cNvPr id="8" name="preference-panel">
            <a:extLst xmlns:a="http://schemas.openxmlformats.org/drawingml/2006/main">
              <a:ext uri="{FF2B5EF4-FFF2-40B4-BE49-F238E27FC236}">
                <a16:creationId xmlns:a16="http://schemas.microsoft.com/office/drawing/2014/main" id="{5E3364FF-2CB2-411E-A671-2ECBD6A4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76400"/>
            <a:ext cx="5143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preference-value">
            <a:extLst xmlns:a="http://schemas.openxmlformats.org/drawingml/2006/main">
              <a:ext uri="{FF2B5EF4-FFF2-40B4-BE49-F238E27FC236}">
                <a16:creationId xmlns:a16="http://schemas.microsoft.com/office/drawing/2014/main" id="{AAEFD1AD-505D-4702-9973-79B4F7C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14550"/>
            <a:ext cx="453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84.3%</a:t>
            </a:r>
          </a:p>
        </p:txBody>
      </p:sp>
      <p:sp>
        <p:nvSpPr>
          <p:cNvPr id="10" name="preference-label">
            <a:extLst xmlns:a="http://schemas.openxmlformats.org/drawingml/2006/main">
              <a:ext uri="{FF2B5EF4-FFF2-40B4-BE49-F238E27FC236}">
                <a16:creationId xmlns:a16="http://schemas.microsoft.com/office/drawing/2014/main" id="{1F593301-BFBB-43CF-897C-BE2C503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71825"/>
            <a:ext cx="4343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of the both-fail subset still had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human preference winner</a:t>
            </a:r>
          </a:p>
        </p:txBody>
      </p:sp>
      <p:sp>
        <p:nvSpPr>
          <p:cNvPr id="11" name="preference-meaning">
            <a:extLst xmlns:a="http://schemas.openxmlformats.org/drawingml/2006/main">
              <a:ext uri="{FF2B5EF4-FFF2-40B4-BE49-F238E27FC236}">
                <a16:creationId xmlns:a16="http://schemas.microsoft.com/office/drawing/2014/main" id="{5F7225FD-AD14-4E4D-B8E5-E01C10D7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Preference recovers graded information discarded by success.</a:t>
            </a:r>
          </a:p>
        </p:txBody>
      </p:sp>
      <p:sp>
        <p:nvSpPr>
          <p:cNvPr id="12" name="metric-result-band">
            <a:extLst xmlns:a="http://schemas.openxmlformats.org/drawingml/2006/main">
              <a:ext uri="{FF2B5EF4-FFF2-40B4-BE49-F238E27FC236}">
                <a16:creationId xmlns:a16="http://schemas.microsoft.com/office/drawing/2014/main" id="{ECFBA3F3-8C18-42EB-848B-2D56F59B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1163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metric-result">
            <a:extLst xmlns:a="http://schemas.openxmlformats.org/drawingml/2006/main">
              <a:ext uri="{FF2B5EF4-FFF2-40B4-BE49-F238E27FC236}">
                <a16:creationId xmlns:a16="http://schemas.microsoft.com/office/drawing/2014/main" id="{848326D6-4507-40AE-8DBC-050B90AA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05450"/>
            <a:ext cx="1059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13.0-point mean shift in P(candidate better)   ·   7 of 28 threshold decisions changed</a:t>
            </a:r>
          </a:p>
        </p:txBody>
      </p:sp>
    </p:spTree>
    <p:extLst>
      <p:ext uri="{BB962C8B-B14F-4D97-AF65-F5344CB8AC3E}">
        <p14:creationId xmlns:p14="http://schemas.microsoft.com/office/powerpoint/2010/main" val="18520342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Preliminar">
            <a:extLst xmlns:a="http://schemas.openxmlformats.org/drawingml/2006/main">
              <a:ext uri="{FF2B5EF4-FFF2-40B4-BE49-F238E27FC236}">
                <a16:creationId xmlns:a16="http://schemas.microsoft.com/office/drawing/2014/main" id="{3790F2DB-5401-4969-8CFA-9CAB4DB5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PRELIMINARY EVIDENCE 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FBE71BB-E922-42A3-8BB9-53BA2986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Evaluator choice changes the conclusion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29CD50BA-8054-4353-B7C5-9BDC4F8A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istortion-band">
            <a:extLst xmlns:a="http://schemas.openxmlformats.org/drawingml/2006/main">
              <a:ext uri="{FF2B5EF4-FFF2-40B4-BE49-F238E27FC236}">
                <a16:creationId xmlns:a16="http://schemas.microsoft.com/office/drawing/2014/main" id="{D7033CDE-D78D-44BB-8161-0B1294AEC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11163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distortion-big">
            <a:extLst xmlns:a="http://schemas.openxmlformats.org/drawingml/2006/main">
              <a:ext uri="{FF2B5EF4-FFF2-40B4-BE49-F238E27FC236}">
                <a16:creationId xmlns:a16="http://schemas.microsoft.com/office/drawing/2014/main" id="{3E8E2B11-12B9-4664-8380-647764F3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 / 24</a:t>
            </a:r>
          </a:p>
        </p:txBody>
      </p:sp>
      <p:sp>
        <p:nvSpPr>
          <p:cNvPr id="6" name="distortion-caption">
            <a:extLst xmlns:a="http://schemas.openxmlformats.org/drawingml/2006/main">
              <a:ext uri="{FF2B5EF4-FFF2-40B4-BE49-F238E27FC236}">
                <a16:creationId xmlns:a16="http://schemas.microsoft.com/office/drawing/2014/main" id="{049ECEB4-471B-4F2B-80C7-F80FD704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complete model runs changed at least one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descriptive 95% policy decision</a:t>
            </a:r>
          </a:p>
        </p:txBody>
      </p:sp>
      <p:sp>
        <p:nvSpPr>
          <p:cNvPr id="7" name="distortion-limit">
            <a:extLst xmlns:a="http://schemas.openxmlformats.org/drawingml/2006/main">
              <a:ext uri="{FF2B5EF4-FFF2-40B4-BE49-F238E27FC236}">
                <a16:creationId xmlns:a16="http://schemas.microsoft.com/office/drawing/2014/main" id="{37077CCF-E43F-4F51-9972-F85EA3CB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Descriptive across 20 pairs per model; not a family-wise controlled hypothesis test.</a:t>
            </a:r>
          </a:p>
        </p:txBody>
      </p:sp>
      <p:sp>
        <p:nvSpPr>
          <p:cNvPr id="8" name="helpful-panel">
            <a:extLst xmlns:a="http://schemas.openxmlformats.org/drawingml/2006/main">
              <a:ext uri="{FF2B5EF4-FFF2-40B4-BE49-F238E27FC236}">
                <a16:creationId xmlns:a16="http://schemas.microsoft.com/office/drawing/2014/main" id="{00C528BD-B87A-4052-8C7B-4AF3E619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9" name="helpful-stat">
            <a:extLst xmlns:a="http://schemas.openxmlformats.org/drawingml/2006/main">
              <a:ext uri="{FF2B5EF4-FFF2-40B4-BE49-F238E27FC236}">
                <a16:creationId xmlns:a16="http://schemas.microsoft.com/office/drawing/2014/main" id="{41A4EECD-8FAF-4C16-8D1E-BA91667B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B7F5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B7F5A"/>
                </a:solidFill>
                <a:latin typeface="Arial"/>
                <a:ea typeface="Arial"/>
                <a:cs typeface="Arial"/>
              </a:rPr>
              <a:t>5 / 25</a:t>
            </a:r>
          </a:p>
        </p:txBody>
      </p:sp>
      <p:sp>
        <p:nvSpPr>
          <p:cNvPr id="10" name="helpful-copy">
            <a:extLst xmlns:a="http://schemas.openxmlformats.org/drawingml/2006/main">
              <a:ext uri="{FF2B5EF4-FFF2-40B4-BE49-F238E27FC236}">
                <a16:creationId xmlns:a16="http://schemas.microsoft.com/office/drawing/2014/main" id="{07B520FB-D019-4827-B508-7DA26E3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148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runs had a median fixed-PPI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variance ratio below 1</a:t>
            </a:r>
          </a:p>
        </p:txBody>
      </p:sp>
      <p:sp>
        <p:nvSpPr>
          <p:cNvPr id="11" name="contrast-panel">
            <a:extLst xmlns:a="http://schemas.openxmlformats.org/drawingml/2006/main">
              <a:ext uri="{FF2B5EF4-FFF2-40B4-BE49-F238E27FC236}">
                <a16:creationId xmlns:a16="http://schemas.microsoft.com/office/drawing/2014/main" id="{7D384BD6-4ED4-432C-8B59-96180855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5143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12" name="contrast-stat">
            <a:extLst xmlns:a="http://schemas.openxmlformats.org/drawingml/2006/main">
              <a:ext uri="{FF2B5EF4-FFF2-40B4-BE49-F238E27FC236}">
                <a16:creationId xmlns:a16="http://schemas.microsoft.com/office/drawing/2014/main" id="{7A910A55-9349-4299-9708-BEEE4EF0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290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−15%  /  +25%</a:t>
            </a:r>
          </a:p>
        </p:txBody>
      </p:sp>
      <p:sp>
        <p:nvSpPr>
          <p:cNvPr id="13" name="contrast-copy">
            <a:extLst xmlns:a="http://schemas.openxmlformats.org/drawingml/2006/main">
              <a:ext uri="{FF2B5EF4-FFF2-40B4-BE49-F238E27FC236}">
                <a16:creationId xmlns:a16="http://schemas.microsoft.com/office/drawing/2014/main" id="{B3095194-BB10-4B20-BB54-33E2000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14875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approximate interval-width change: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post-hoc proxy vs. weak proxy</a:t>
            </a:r>
          </a:p>
        </p:txBody>
      </p:sp>
    </p:spTree>
    <p:extLst>
      <p:ext uri="{BB962C8B-B14F-4D97-AF65-F5344CB8AC3E}">
        <p14:creationId xmlns:p14="http://schemas.microsoft.com/office/powerpoint/2010/main" val="504865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Method">
            <a:extLst xmlns:a="http://schemas.openxmlformats.org/drawingml/2006/main">
              <a:ext uri="{FF2B5EF4-FFF2-40B4-BE49-F238E27FC236}">
                <a16:creationId xmlns:a16="http://schemas.microsoft.com/office/drawing/2014/main" id="{41A1AF5B-B70D-4716-89D0-4B550686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F31290D-AF09-47E9-BF3F-BF7C2BF8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certificate runs; the theorem remains open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A06233C4-FAF6-47CA-A26F-92C80550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600200" y="31432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method-node-1">
            <a:extLst xmlns:a="http://schemas.openxmlformats.org/drawingml/2006/main">
              <a:ext uri="{FF2B5EF4-FFF2-40B4-BE49-F238E27FC236}">
                <a16:creationId xmlns:a16="http://schemas.microsoft.com/office/drawing/2014/main" id="{E832085A-7FEF-4464-8B5D-6AB95568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method-num-1">
            <a:extLst xmlns:a="http://schemas.openxmlformats.org/drawingml/2006/main">
              <a:ext uri="{FF2B5EF4-FFF2-40B4-BE49-F238E27FC236}">
                <a16:creationId xmlns:a16="http://schemas.microsoft.com/office/drawing/2014/main" id="{EFE31768-A6BE-421C-AEEF-60380011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method-title-1">
            <a:extLst xmlns:a="http://schemas.openxmlformats.org/drawingml/2006/main">
              <a:ext uri="{FF2B5EF4-FFF2-40B4-BE49-F238E27FC236}">
                <a16:creationId xmlns:a16="http://schemas.microsoft.com/office/drawing/2014/main" id="{B7DF07D5-EBEE-4C74-8FDB-52231CDA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8" name="method-body-1">
            <a:extLst xmlns:a="http://schemas.openxmlformats.org/drawingml/2006/main">
              <a:ext uri="{FF2B5EF4-FFF2-40B4-BE49-F238E27FC236}">
                <a16:creationId xmlns:a16="http://schemas.microsoft.com/office/drawing/2014/main" id="{4C1D63B4-5D22-499C-9E5A-0502EF30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Split audit/inference labels; use Bonferroni and fixed PPI or the identical human-only branch.</a:t>
            </a:r>
          </a:p>
        </p:txBody>
      </p:sp>
      <p:sp>
        <p:nvSpPr>
          <p:cNvPr id="9" name="method-node-2">
            <a:extLst xmlns:a="http://schemas.openxmlformats.org/drawingml/2006/main">
              <a:ext uri="{FF2B5EF4-FFF2-40B4-BE49-F238E27FC236}">
                <a16:creationId xmlns:a16="http://schemas.microsoft.com/office/drawing/2014/main" id="{B18F041E-E7E1-4EC3-B15D-C96FF6C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method-num-2">
            <a:extLst xmlns:a="http://schemas.openxmlformats.org/drawingml/2006/main">
              <a:ext uri="{FF2B5EF4-FFF2-40B4-BE49-F238E27FC236}">
                <a16:creationId xmlns:a16="http://schemas.microsoft.com/office/drawing/2014/main" id="{9A5DC104-41CA-4C4F-ABAC-89AF025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2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method-title-2">
            <a:extLst xmlns:a="http://schemas.openxmlformats.org/drawingml/2006/main">
              <a:ext uri="{FF2B5EF4-FFF2-40B4-BE49-F238E27FC236}">
                <a16:creationId xmlns:a16="http://schemas.microsoft.com/office/drawing/2014/main" id="{25D235E3-002C-420D-99EF-6E5720BF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2" name="method-body-2">
            <a:extLst xmlns:a="http://schemas.openxmlformats.org/drawingml/2006/main">
              <a:ext uri="{FF2B5EF4-FFF2-40B4-BE49-F238E27FC236}">
                <a16:creationId xmlns:a16="http://schemas.microsoft.com/office/drawing/2014/main" id="{5BA41924-83FB-4E38-A610-CC419EEE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29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Cross-fit proxy selection on a clustered policy graph while controlling simultaneous declarations.</a:t>
            </a:r>
          </a:p>
        </p:txBody>
      </p:sp>
      <p:sp>
        <p:nvSpPr>
          <p:cNvPr id="13" name="method-node-3">
            <a:extLst xmlns:a="http://schemas.openxmlformats.org/drawingml/2006/main">
              <a:ext uri="{FF2B5EF4-FFF2-40B4-BE49-F238E27FC236}">
                <a16:creationId xmlns:a16="http://schemas.microsoft.com/office/drawing/2014/main" id="{F03E2C60-98E3-4521-BA4D-6E8C38A9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14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method-num-3">
            <a:extLst xmlns:a="http://schemas.openxmlformats.org/drawingml/2006/main">
              <a:ext uri="{FF2B5EF4-FFF2-40B4-BE49-F238E27FC236}">
                <a16:creationId xmlns:a16="http://schemas.microsoft.com/office/drawing/2014/main" id="{0F2129DA-484E-474C-A97F-65FD3589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240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method-title-3">
            <a:extLst xmlns:a="http://schemas.openxmlformats.org/drawingml/2006/main">
              <a:ext uri="{FF2B5EF4-FFF2-40B4-BE49-F238E27FC236}">
                <a16:creationId xmlns:a16="http://schemas.microsoft.com/office/drawing/2014/main" id="{E5811E57-4C3E-4895-A9BA-50FD36B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00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6" name="method-body-3">
            <a:extLst xmlns:a="http://schemas.openxmlformats.org/drawingml/2006/main">
              <a:ext uri="{FF2B5EF4-FFF2-40B4-BE49-F238E27FC236}">
                <a16:creationId xmlns:a16="http://schemas.microsoft.com/office/drawing/2014/main" id="{EC50C981-4564-491E-B76C-AB6E4804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Use multi-rater and shifted frames; publish abstention when the proxy cannot save review.</a:t>
            </a:r>
          </a:p>
        </p:txBody>
      </p:sp>
      <p:sp>
        <p:nvSpPr>
          <p:cNvPr id="17" name="method-invariant">
            <a:extLst xmlns:a="http://schemas.openxmlformats.org/drawingml/2006/main">
              <a:ext uri="{FF2B5EF4-FFF2-40B4-BE49-F238E27FC236}">
                <a16:creationId xmlns:a16="http://schemas.microsoft.com/office/drawing/2014/main" id="{24664A8F-9F9A-47F5-A83D-79914FF6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48350"/>
            <a:ext cx="982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now: fail-closed branch logic. Unproved: graph-aware coverage and no-harm.</a:t>
            </a:r>
          </a:p>
        </p:txBody>
      </p:sp>
    </p:spTree>
    <p:extLst>
      <p:ext uri="{BB962C8B-B14F-4D97-AF65-F5344CB8AC3E}">
        <p14:creationId xmlns:p14="http://schemas.microsoft.com/office/powerpoint/2010/main" val="4127625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Confirmati">
            <a:extLst xmlns:a="http://schemas.openxmlformats.org/drawingml/2006/main">
              <a:ext uri="{FF2B5EF4-FFF2-40B4-BE49-F238E27FC236}">
                <a16:creationId xmlns:a16="http://schemas.microsoft.com/office/drawing/2014/main" id="{B38D61E8-C615-4264-8268-1F9D9C90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CONFIRMATION CONTRACT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090D680-0266-48FF-943A-9B385301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Coverage, cost, and declaration gates all matter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929DE6B5-CDB1-4135-9208-8E29958F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freeze-panel">
            <a:extLst xmlns:a="http://schemas.openxmlformats.org/drawingml/2006/main">
              <a:ext uri="{FF2B5EF4-FFF2-40B4-BE49-F238E27FC236}">
                <a16:creationId xmlns:a16="http://schemas.microsoft.com/office/drawing/2014/main" id="{25266C0B-ED56-43E9-8454-A6FFE42A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333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5" name="freeze-label">
            <a:extLst xmlns:a="http://schemas.openxmlformats.org/drawingml/2006/main">
              <a:ext uri="{FF2B5EF4-FFF2-40B4-BE49-F238E27FC236}">
                <a16:creationId xmlns:a16="http://schemas.microsoft.com/office/drawing/2014/main" id="{2AFE1942-4451-4B02-B3D9-48D26A02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FREEZE BEFORE LABELS</a:t>
            </a:r>
          </a:p>
        </p:txBody>
      </p:sp>
      <p:sp>
        <p:nvSpPr>
          <p:cNvPr id="6" name="freeze-list">
            <a:extLst xmlns:a="http://schemas.openxmlformats.org/drawingml/2006/main">
              <a:ext uri="{FF2B5EF4-FFF2-40B4-BE49-F238E27FC236}">
                <a16:creationId xmlns:a16="http://schemas.microsoft.com/office/drawing/2014/main" id="{61F43DED-CE0F-47F6-9909-8D4E959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6670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Open model + hash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Policy graph + δ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 / inference split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Rater reference rule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+ missingness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Seeds + thresholds</a:t>
            </a:r>
          </a:p>
        </p:txBody>
      </p:sp>
      <p:sp>
        <p:nvSpPr>
          <p:cNvPr id="7" name="precision-panel">
            <a:extLst xmlns:a="http://schemas.openxmlformats.org/drawingml/2006/main">
              <a:ext uri="{FF2B5EF4-FFF2-40B4-BE49-F238E27FC236}">
                <a16:creationId xmlns:a16="http://schemas.microsoft.com/office/drawing/2014/main" id="{69921100-6495-4BF3-A428-293D13521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19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precision-value">
            <a:extLst xmlns:a="http://schemas.openxmlformats.org/drawingml/2006/main">
              <a:ext uri="{FF2B5EF4-FFF2-40B4-BE49-F238E27FC236}">
                <a16:creationId xmlns:a16="http://schemas.microsoft.com/office/drawing/2014/main" id="{3ABAF4CB-70D7-44C1-9306-8BEFCF51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5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w* = δ / 2</a:t>
            </a:r>
          </a:p>
        </p:txBody>
      </p:sp>
      <p:sp>
        <p:nvSpPr>
          <p:cNvPr id="9" name="precision-caption">
            <a:extLst xmlns:a="http://schemas.openxmlformats.org/drawingml/2006/main">
              <a:ext uri="{FF2B5EF4-FFF2-40B4-BE49-F238E27FC236}">
                <a16:creationId xmlns:a16="http://schemas.microsoft.com/office/drawing/2014/main" id="{ED44A367-2AC8-4D0F-B5FF-105589D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81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human minutes to precision</a:t>
            </a:r>
          </a:p>
        </p:txBody>
      </p:sp>
      <p:sp>
        <p:nvSpPr>
          <p:cNvPr id="10" name="coverage-panel">
            <a:extLst xmlns:a="http://schemas.openxmlformats.org/drawingml/2006/main">
              <a:ext uri="{FF2B5EF4-FFF2-40B4-BE49-F238E27FC236}">
                <a16:creationId xmlns:a16="http://schemas.microsoft.com/office/drawing/2014/main" id="{FC593767-5330-4C72-8A18-2BFCD390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3333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coverage-value">
            <a:extLst xmlns:a="http://schemas.openxmlformats.org/drawingml/2006/main">
              <a:ext uri="{FF2B5EF4-FFF2-40B4-BE49-F238E27FC236}">
                <a16:creationId xmlns:a16="http://schemas.microsoft.com/office/drawing/2014/main" id="{AF522075-FCC4-46C1-844D-117644DA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12" name="coverage-caption">
            <a:extLst xmlns:a="http://schemas.openxmlformats.org/drawingml/2006/main">
              <a:ext uri="{FF2B5EF4-FFF2-40B4-BE49-F238E27FC236}">
                <a16:creationId xmlns:a16="http://schemas.microsoft.com/office/drawing/2014/main" id="{739F7E43-B27D-4EAA-9CB7-A7AA3B6A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673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simultaneous coverage target</a:t>
            </a:r>
          </a:p>
        </p:txBody>
      </p:sp>
      <p:sp>
        <p:nvSpPr>
          <p:cNvPr id="13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A47BFF65-E936-4075-A2E9-11ECB311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524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decision-heading">
            <a:extLst xmlns:a="http://schemas.openxmlformats.org/drawingml/2006/main">
              <a:ext uri="{FF2B5EF4-FFF2-40B4-BE49-F238E27FC236}">
                <a16:creationId xmlns:a16="http://schemas.microsoft.com/office/drawing/2014/main" id="{3620076A-7C21-450E-8E04-F9D8511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52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SUPPORTED OUTCOME</a:t>
            </a:r>
          </a:p>
        </p:txBody>
      </p:sp>
      <p:sp>
        <p:nvSpPr>
          <p:cNvPr id="15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36EFB634-BCBE-4B7A-B5DC-545CFBFA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527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gates pass</a:t>
            </a:r>
          </a:p>
        </p:txBody>
      </p:sp>
      <p:sp>
        <p:nvSpPr>
          <p:cNvPr id="16" name="decision-positive">
            <a:extLst xmlns:a="http://schemas.openxmlformats.org/drawingml/2006/main">
              <a:ext uri="{FF2B5EF4-FFF2-40B4-BE49-F238E27FC236}">
                <a16:creationId xmlns:a16="http://schemas.microsoft.com/office/drawing/2014/main" id="{42AFDF04-95F3-425E-BEA6-C398530D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24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5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VLM-assisted simultaneous policy inference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8439150" y="4171950"/>
            <a:ext cx="285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B6470"/>
            </a:solidFill>
            <a:prstDash val="solid"/>
          </a:ln>
        </p:spPr>
      </p:cxnSp>
      <p:sp>
        <p:nvSpPr>
          <p:cNvPr id="18" name="decision-fail">
            <a:extLst xmlns:a="http://schemas.openxmlformats.org/drawingml/2006/main">
              <a:ext uri="{FF2B5EF4-FFF2-40B4-BE49-F238E27FC236}">
                <a16:creationId xmlns:a16="http://schemas.microsoft.com/office/drawing/2014/main" id="{64E992B2-2693-426A-B454-2B00F42F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Any gate fails</a:t>
            </a:r>
          </a:p>
        </p:txBody>
      </p:sp>
      <p:sp>
        <p:nvSpPr>
          <p:cNvPr id="19" name="decision-negative">
            <a:extLst xmlns:a="http://schemas.openxmlformats.org/drawingml/2006/main">
              <a:ext uri="{FF2B5EF4-FFF2-40B4-BE49-F238E27FC236}">
                <a16:creationId xmlns:a16="http://schemas.microsoft.com/office/drawing/2014/main" id="{02298881-BCC5-4DB6-AB66-874D6F98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no reliable saving; exact human-only fallback</a:t>
            </a:r>
          </a:p>
        </p:txBody>
      </p:sp>
    </p:spTree>
    <p:extLst>
      <p:ext uri="{BB962C8B-B14F-4D97-AF65-F5344CB8AC3E}">
        <p14:creationId xmlns:p14="http://schemas.microsoft.com/office/powerpoint/2010/main" val="1402166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-Feasible w">
            <a:extLst xmlns:a="http://schemas.openxmlformats.org/drawingml/2006/main">
              <a:ext uri="{FF2B5EF4-FFF2-40B4-BE49-F238E27FC236}">
                <a16:creationId xmlns:a16="http://schemas.microsoft.com/office/drawing/2014/main" id="{6B8DA187-40C9-4656-8506-938BB18F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FEASIBLE WORK PLAN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2502F71E-512E-44AD-B07D-A22B7DC8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16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twelve-month path with explicit stopping rules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FFB2854F-6953-4C1E-9727-4AAC7533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990600" y="3143250"/>
            <a:ext cx="10210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CEC69EAB-5F07-46F5-B9E3-2956C325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AC38B20E-5680-40B7-BC7A-8DD7038B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M1-2</a:t>
            </a:r>
          </a:p>
        </p:txBody>
      </p:sp>
      <p:sp>
        <p:nvSpPr>
          <p:cNvPr id="7" name="timeline-title-1">
            <a:extLst xmlns:a="http://schemas.openxmlformats.org/drawingml/2006/main">
              <a:ext uri="{FF2B5EF4-FFF2-40B4-BE49-F238E27FC236}">
                <a16:creationId xmlns:a16="http://schemas.microsoft.com/office/drawing/2014/main" id="{C1A4BEE2-E5A2-4AE8-8F8B-04BD33BE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8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A3FC1F62-A7BE-4060-9EAB-F8F8AE16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Graph, margin, gates, ethics + data decision</a:t>
            </a:r>
          </a:p>
        </p:txBody>
      </p:sp>
      <p:sp>
        <p:nvSpPr>
          <p:cNvPr id="9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5AFFBA19-FCEB-4EB1-97A1-6F66D59C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65271CA2-C791-4C7E-A2F2-1740CC15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M3-4</a:t>
            </a:r>
          </a:p>
        </p:txBody>
      </p:sp>
      <p:sp>
        <p:nvSpPr>
          <p:cNvPr id="11" name="timeline-title-2">
            <a:extLst xmlns:a="http://schemas.openxmlformats.org/drawingml/2006/main">
              <a:ext uri="{FF2B5EF4-FFF2-40B4-BE49-F238E27FC236}">
                <a16:creationId xmlns:a16="http://schemas.microsoft.com/office/drawing/2014/main" id="{313BC2A1-C4D4-4975-8C5B-C7CA8D23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Rate</a:t>
            </a:r>
          </a:p>
        </p:txBody>
      </p:sp>
      <p:sp>
        <p:nvSpPr>
          <p:cNvPr id="12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2B971422-DEEE-45EC-8787-6751764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Blinded multi-rater pilot and time budget</a:t>
            </a:r>
          </a:p>
        </p:txBody>
      </p:sp>
      <p:sp>
        <p:nvSpPr>
          <p:cNvPr id="13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3B423C39-D5CD-48E9-9E38-6C91AECB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05D3A066-B097-455A-929A-90AEDD59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M5-7</a:t>
            </a:r>
          </a:p>
        </p:txBody>
      </p:sp>
      <p:sp>
        <p:nvSpPr>
          <p:cNvPr id="15" name="timeline-title-3">
            <a:extLst xmlns:a="http://schemas.openxmlformats.org/drawingml/2006/main">
              <a:ext uri="{FF2B5EF4-FFF2-40B4-BE49-F238E27FC236}">
                <a16:creationId xmlns:a16="http://schemas.microsoft.com/office/drawing/2014/main" id="{6DBAF9ED-84E2-4537-BD41-82DA6BAE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6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A80D46CD-88F7-42E1-83B7-6FEDEA3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Graph validity/no-harm + locked comparison</a:t>
            </a:r>
          </a:p>
        </p:txBody>
      </p:sp>
      <p:sp>
        <p:nvSpPr>
          <p:cNvPr id="17" name="timeline-node-4">
            <a:extLst xmlns:a="http://schemas.openxmlformats.org/drawingml/2006/main">
              <a:ext uri="{FF2B5EF4-FFF2-40B4-BE49-F238E27FC236}">
                <a16:creationId xmlns:a16="http://schemas.microsoft.com/office/drawing/2014/main" id="{CD49E396-35D7-48F8-BE67-39FCF9924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timeline-label-4">
            <a:extLst xmlns:a="http://schemas.openxmlformats.org/drawingml/2006/main">
              <a:ext uri="{FF2B5EF4-FFF2-40B4-BE49-F238E27FC236}">
                <a16:creationId xmlns:a16="http://schemas.microsoft.com/office/drawing/2014/main" id="{A745A256-DAE1-4656-BFAC-5E7B66CD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M8-9</a:t>
            </a:r>
          </a:p>
        </p:txBody>
      </p:sp>
      <p:sp>
        <p:nvSpPr>
          <p:cNvPr id="19" name="timeline-title-4">
            <a:extLst xmlns:a="http://schemas.openxmlformats.org/drawingml/2006/main">
              <a:ext uri="{FF2B5EF4-FFF2-40B4-BE49-F238E27FC236}">
                <a16:creationId xmlns:a16="http://schemas.microsoft.com/office/drawing/2014/main" id="{510E9E92-C7D9-4B51-8CDC-D3AC3163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Shift-test</a:t>
            </a:r>
          </a:p>
        </p:txBody>
      </p:sp>
      <p:sp>
        <p:nvSpPr>
          <p:cNvPr id="20" name="timeline-body-4">
            <a:extLst xmlns:a="http://schemas.openxmlformats.org/drawingml/2006/main">
              <a:ext uri="{FF2B5EF4-FFF2-40B4-BE49-F238E27FC236}">
                <a16:creationId xmlns:a16="http://schemas.microsoft.com/office/drawing/2014/main" id="{20FB6D26-8681-4C01-ADF7-303B8A10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Held-out tasks/sites or prospective evaluation frame</a:t>
            </a:r>
          </a:p>
        </p:txBody>
      </p:sp>
      <p:sp>
        <p:nvSpPr>
          <p:cNvPr id="21" name="timeline-node-5">
            <a:extLst xmlns:a="http://schemas.openxmlformats.org/drawingml/2006/main">
              <a:ext uri="{FF2B5EF4-FFF2-40B4-BE49-F238E27FC236}">
                <a16:creationId xmlns:a16="http://schemas.microsoft.com/office/drawing/2014/main" id="{11112520-E7BE-4BE2-B85C-81A849A2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2" name="timeline-label-5">
            <a:extLst xmlns:a="http://schemas.openxmlformats.org/drawingml/2006/main">
              <a:ext uri="{FF2B5EF4-FFF2-40B4-BE49-F238E27FC236}">
                <a16:creationId xmlns:a16="http://schemas.microsoft.com/office/drawing/2014/main" id="{B1951537-EB04-4714-8CA5-D0875C88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336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M10-12</a:t>
            </a:r>
          </a:p>
        </p:txBody>
      </p:sp>
      <p:sp>
        <p:nvSpPr>
          <p:cNvPr id="23" name="timeline-title-5">
            <a:extLst xmlns:a="http://schemas.openxmlformats.org/drawingml/2006/main">
              <a:ext uri="{FF2B5EF4-FFF2-40B4-BE49-F238E27FC236}">
                <a16:creationId xmlns:a16="http://schemas.microsoft.com/office/drawing/2014/main" id="{8D70BF89-3A16-4A50-94A0-1FE92444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24" name="timeline-body-5">
            <a:extLst xmlns:a="http://schemas.openxmlformats.org/drawingml/2006/main">
              <a:ext uri="{FF2B5EF4-FFF2-40B4-BE49-F238E27FC236}">
                <a16:creationId xmlns:a16="http://schemas.microsoft.com/office/drawing/2014/main" id="{5FF6007F-D905-4942-B194-F10940D3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Thesis, protocol archive, claim audit</a:t>
            </a:r>
          </a:p>
        </p:txBody>
      </p:sp>
      <p:sp>
        <p:nvSpPr>
          <p:cNvPr id="25" name="stop-band">
            <a:extLst xmlns:a="http://schemas.openxmlformats.org/drawingml/2006/main">
              <a:ext uri="{FF2B5EF4-FFF2-40B4-BE49-F238E27FC236}">
                <a16:creationId xmlns:a16="http://schemas.microsoft.com/office/drawing/2014/main" id="{0EF1D1F9-F602-40B8-A04C-645EC46D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2125"/>
            <a:ext cx="10210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solidFill>
              <a:srgbClr val="F3F3F3"/>
            </a:solidFill>
            <a:prstDash val="solid"/>
          </a:ln>
        </p:spPr>
      </p:sp>
      <p:sp>
        <p:nvSpPr>
          <p:cNvPr id="26" name="stop-copy">
            <a:extLst xmlns:a="http://schemas.openxmlformats.org/drawingml/2006/main">
              <a:ext uri="{FF2B5EF4-FFF2-40B4-BE49-F238E27FC236}">
                <a16:creationId xmlns:a16="http://schemas.microsoft.com/office/drawing/2014/main" id="{5BAF4565-C31F-4543-A76F-AC264D2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43575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8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Minimum track: public episodes + new blinded ratings. External validity requires a prospective evaluation frame.</a:t>
            </a:r>
          </a:p>
        </p:txBody>
      </p:sp>
    </p:spTree>
    <p:extLst>
      <p:ext uri="{BB962C8B-B14F-4D97-AF65-F5344CB8AC3E}">
        <p14:creationId xmlns:p14="http://schemas.microsoft.com/office/powerpoint/2010/main" val="479199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-Research s">
            <a:extLst xmlns:a="http://schemas.openxmlformats.org/drawingml/2006/main">
              <a:ext uri="{FF2B5EF4-FFF2-40B4-BE49-F238E27FC236}">
                <a16:creationId xmlns:a16="http://schemas.microsoft.com/office/drawing/2014/main" id="{61AD30F0-DEF3-40D2-A750-5237559E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RESEARCH STATUS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17E6E964-E31F-4209-AE31-4AC0C561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695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8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status: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baseline implemented, theorem open</a:t>
            </a:r>
          </a:p>
        </p:txBody>
      </p:sp>
      <p:sp>
        <p:nvSpPr>
          <p:cNvPr id="3" name="close-summary">
            <a:extLst xmlns:a="http://schemas.openxmlformats.org/drawingml/2006/main">
              <a:ext uri="{FF2B5EF4-FFF2-40B4-BE49-F238E27FC236}">
                <a16:creationId xmlns:a16="http://schemas.microsoft.com/office/drawing/2014/main" id="{94B487B5-50A1-4F06-8AE1-49A3E022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B6470"/>
                </a:solidFill>
                <a:latin typeface="Arial"/>
                <a:ea typeface="Arial"/>
                <a:cs typeface="Arial"/>
              </a:rPr>
              <a:t>The audit documents policy-level evaluator failure modes. The certificate establishes an executable baseline. The remaining question is whether cross-fitted proxy use can preserve graph-wide validity without harming efficiency.</a:t>
            </a:r>
          </a:p>
        </p:txBody>
      </p:sp>
      <p:sp>
        <p:nvSpPr>
          <p:cNvPr id="4" name="close-ask-panel">
            <a:extLst xmlns:a="http://schemas.openxmlformats.org/drawingml/2006/main">
              <a:ext uri="{FF2B5EF4-FFF2-40B4-BE49-F238E27FC236}">
                <a16:creationId xmlns:a16="http://schemas.microsoft.com/office/drawing/2014/main" id="{CBA0E1CF-2A3B-4B4C-9884-6391E1EA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657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5" name="close-ask-label">
            <a:extLst xmlns:a="http://schemas.openxmlformats.org/drawingml/2006/main">
              <a:ext uri="{FF2B5EF4-FFF2-40B4-BE49-F238E27FC236}">
                <a16:creationId xmlns:a16="http://schemas.microsoft.com/office/drawing/2014/main" id="{21335E76-BB45-4C1B-822E-7FB6254C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04950"/>
            <a:ext cx="300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OPEN RESEARCH QUESTION</a:t>
            </a:r>
          </a:p>
        </p:txBody>
      </p:sp>
      <p:sp>
        <p:nvSpPr>
          <p:cNvPr id="6" name="close-ask">
            <a:extLst xmlns:a="http://schemas.openxmlformats.org/drawingml/2006/main">
              <a:ext uri="{FF2B5EF4-FFF2-40B4-BE49-F238E27FC236}">
                <a16:creationId xmlns:a16="http://schemas.microsoft.com/office/drawing/2014/main" id="{8640C0FB-3927-4C5C-8035-8489B4A0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43125"/>
            <a:ext cx="30099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assumptions make the graph-wide guarantee valid?</a:t>
            </a:r>
          </a:p>
        </p:txBody>
      </p:sp>
      <p:sp>
        <p:nvSpPr>
          <p:cNvPr id="7" name="close-options">
            <a:extLst xmlns:a="http://schemas.openxmlformats.org/drawingml/2006/main">
              <a:ext uri="{FF2B5EF4-FFF2-40B4-BE49-F238E27FC236}">
                <a16:creationId xmlns:a16="http://schemas.microsoft.com/office/drawing/2014/main" id="{2F93D87C-1B52-457C-967D-945A822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3009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Cross-fitted proxy selection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Cluster-aware simultaneous coverage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Empirical no-harm validation</a:t>
            </a:r>
          </a:p>
        </p:txBody>
      </p:sp>
      <p:sp>
        <p:nvSpPr>
          <p:cNvPr id="8" name="close-author">
            <a:extLst xmlns:a="http://schemas.openxmlformats.org/drawingml/2006/main">
              <a:ext uri="{FF2B5EF4-FFF2-40B4-BE49-F238E27FC236}">
                <a16:creationId xmlns:a16="http://schemas.microsoft.com/office/drawing/2014/main" id="{6A74387B-F54E-4F1D-B231-E9D281A4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Jaya Krishna J  ·  Robot Evaluation Decision Engine</a:t>
            </a:r>
          </a:p>
        </p:txBody>
      </p:sp>
    </p:spTree>
    <p:extLst>
      <p:ext uri="{BB962C8B-B14F-4D97-AF65-F5344CB8AC3E}">
        <p14:creationId xmlns:p14="http://schemas.microsoft.com/office/powerpoint/2010/main" val="21355308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2026-08-24T07:17:26.0070000Z</dcterms:created>
  <dcterms:modified xsi:type="dcterms:W3CDTF">2026-08-24T07:17:26.0070000Z</dcterms:modified>
</coreProperties>
</file>